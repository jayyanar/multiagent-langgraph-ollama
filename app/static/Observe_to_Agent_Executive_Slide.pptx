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371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300" kern="0" dirty="0">
                <a:solidFill>
                  <a:srgbClr val="D4A84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OBSERVE TO AGENT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11480" y="41148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10X Quality Assurance Automation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92240" y="109728"/>
            <a:ext cx="822960" cy="502920"/>
          </a:xfrm>
          <a:prstGeom prst="rect">
            <a:avLst>
              <a:gd name="adj" fmla="val 9091"/>
            </a:avLst>
          </a:prstGeom>
          <a:solidFill>
            <a:srgbClr val="111827"/>
          </a:solidFill>
          <a:ln w="10160">
            <a:solidFill>
              <a:srgbClr val="3B82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92240" y="11887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2,500+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92240" y="36576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spc="200" kern="0" dirty="0">
                <a:solidFill>
                  <a:srgbClr val="5A6D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</a:t>
            </a:r>
            <a:endParaRPr lang="en-US" sz="600" dirty="0"/>
          </a:p>
        </p:txBody>
      </p:sp>
      <p:sp>
        <p:nvSpPr>
          <p:cNvPr id="8" name="Shape 6"/>
          <p:cNvSpPr/>
          <p:nvPr/>
        </p:nvSpPr>
        <p:spPr>
          <a:xfrm>
            <a:off x="7406640" y="109728"/>
            <a:ext cx="822960" cy="502920"/>
          </a:xfrm>
          <a:prstGeom prst="rect">
            <a:avLst>
              <a:gd name="adj" fmla="val 9091"/>
            </a:avLst>
          </a:prstGeom>
          <a:solidFill>
            <a:srgbClr val="111827"/>
          </a:solidFill>
          <a:ln w="10160">
            <a:solidFill>
              <a:srgbClr val="10B98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06640" y="11887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~50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406640" y="36576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spc="200" kern="0" dirty="0">
                <a:solidFill>
                  <a:srgbClr val="5A6D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FAMILIES</a:t>
            </a:r>
            <a:endParaRPr lang="en-US" sz="600" dirty="0"/>
          </a:p>
        </p:txBody>
      </p:sp>
      <p:sp>
        <p:nvSpPr>
          <p:cNvPr id="11" name="Shape 9"/>
          <p:cNvSpPr/>
          <p:nvPr/>
        </p:nvSpPr>
        <p:spPr>
          <a:xfrm>
            <a:off x="8321040" y="109728"/>
            <a:ext cx="822960" cy="502920"/>
          </a:xfrm>
          <a:prstGeom prst="rect">
            <a:avLst>
              <a:gd name="adj" fmla="val 9091"/>
            </a:avLst>
          </a:prstGeom>
          <a:solidFill>
            <a:srgbClr val="111827"/>
          </a:solidFill>
          <a:ln w="10160">
            <a:solidFill>
              <a:srgbClr val="D4A84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21040" y="11887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4A84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10X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36576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spc="200" kern="0" dirty="0">
                <a:solidFill>
                  <a:srgbClr val="5A6D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VELOCITY</a:t>
            </a:r>
            <a:endParaRPr lang="en-US" sz="600" dirty="0"/>
          </a:p>
        </p:txBody>
      </p:sp>
      <p:sp>
        <p:nvSpPr>
          <p:cNvPr id="14" name="Shape 12"/>
          <p:cNvSpPr/>
          <p:nvPr/>
        </p:nvSpPr>
        <p:spPr>
          <a:xfrm>
            <a:off x="411480" y="685800"/>
            <a:ext cx="8321040" cy="0"/>
          </a:xfrm>
          <a:prstGeom prst="line">
            <a:avLst/>
          </a:prstGeom>
          <a:noFill/>
          <a:ln w="3810">
            <a:solidFill>
              <a:srgbClr val="5A6D87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411480" y="804672"/>
            <a:ext cx="1508760" cy="1691640"/>
          </a:xfrm>
          <a:prstGeom prst="rect">
            <a:avLst/>
          </a:prstGeom>
          <a:solidFill>
            <a:srgbClr val="172554"/>
          </a:solidFill>
          <a:ln w="7620">
            <a:solidFill>
              <a:srgbClr val="3B82F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11480" y="804672"/>
            <a:ext cx="150876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7" name="Text 15"/>
          <p:cNvSpPr/>
          <p:nvPr/>
        </p:nvSpPr>
        <p:spPr>
          <a:xfrm>
            <a:off x="484632" y="896112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84632" y="1078992"/>
            <a:ext cx="1362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DISCOVER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4632" y="1280160"/>
            <a:ext cx="1362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 &amp; Capture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521208" y="1481328"/>
            <a:ext cx="1289304" cy="0"/>
          </a:xfrm>
          <a:prstGeom prst="line">
            <a:avLst/>
          </a:prstGeom>
          <a:noFill/>
          <a:ln w="3810">
            <a:solidFill>
              <a:srgbClr val="3B82F6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502920" y="1536192"/>
            <a:ext cx="1325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▸"/>
            </a:pPr>
            <a:r>
              <a:rPr lang="en-US" sz="7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SKAN Screen Recording</a:t>
            </a:r>
            <a:endParaRPr lang="en-US" sz="700" dirty="0"/>
          </a:p>
          <a:p>
            <a:pPr marL="342900" indent="-342900">
              <a:spcAft>
                <a:spcPts val="300"/>
              </a:spcAft>
              <a:buSzPct val="100000"/>
              <a:buChar char="▸"/>
            </a:pPr>
            <a:r>
              <a:rPr lang="en-US" sz="7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VLM Analysis</a:t>
            </a:r>
            <a:endParaRPr lang="en-US" sz="700" dirty="0"/>
          </a:p>
          <a:p>
            <a:pPr marL="342900" indent="-342900">
              <a:spcAft>
                <a:spcPts val="300"/>
              </a:spcAft>
              <a:buSzPct val="100000"/>
              <a:buChar char="▸"/>
            </a:pPr>
            <a:r>
              <a:rPr lang="en-US" sz="7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Stream Mining</a:t>
            </a:r>
            <a:endParaRPr lang="en-US" sz="700" dirty="0"/>
          </a:p>
          <a:p>
            <a:pPr marL="342900" indent="-342900">
              <a:spcAft>
                <a:spcPts val="300"/>
              </a:spcAft>
              <a:buSzPct val="100000"/>
              <a:buChar char="▸"/>
            </a:pPr>
            <a:r>
              <a:rPr lang="en-US" sz="7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 Generation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1929384" y="1540764"/>
            <a:ext cx="91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D87"/>
                </a:solidFill>
              </a:rPr>
              <a:t>▶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2029968" y="804672"/>
            <a:ext cx="1508760" cy="1691640"/>
          </a:xfrm>
          <a:prstGeom prst="rect">
            <a:avLst/>
          </a:prstGeom>
          <a:solidFill>
            <a:srgbClr val="0D3B2E"/>
          </a:solidFill>
          <a:ln w="7620">
            <a:solidFill>
              <a:srgbClr val="10B98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029968" y="804672"/>
            <a:ext cx="150876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5" name="Text 23"/>
          <p:cNvSpPr/>
          <p:nvPr/>
        </p:nvSpPr>
        <p:spPr>
          <a:xfrm>
            <a:off x="2103120" y="896112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103120" y="1078992"/>
            <a:ext cx="1362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INTEGRATE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103120" y="1280160"/>
            <a:ext cx="1362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Data Fabric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2139696" y="1481328"/>
            <a:ext cx="1289304" cy="0"/>
          </a:xfrm>
          <a:prstGeom prst="line">
            <a:avLst/>
          </a:prstGeom>
          <a:noFill/>
          <a:ln w="3810">
            <a:solidFill>
              <a:srgbClr val="10B981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2121408" y="1536192"/>
            <a:ext cx="1325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▸"/>
            </a:pPr>
            <a:r>
              <a:rPr lang="en-US" sz="7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ICMP / ECM Connectors</a:t>
            </a:r>
            <a:endParaRPr lang="en-US" sz="700" dirty="0"/>
          </a:p>
          <a:p>
            <a:pPr marL="342900" indent="-342900">
              <a:spcAft>
                <a:spcPts val="300"/>
              </a:spcAft>
              <a:buSzPct val="100000"/>
              <a:buChar char="▸"/>
            </a:pPr>
            <a:r>
              <a:rPr lang="en-US" sz="7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/ API Adapters</a:t>
            </a:r>
            <a:endParaRPr lang="en-US" sz="700" dirty="0"/>
          </a:p>
          <a:p>
            <a:pPr marL="342900" indent="-342900">
              <a:spcAft>
                <a:spcPts val="300"/>
              </a:spcAft>
              <a:buSzPct val="100000"/>
              <a:buChar char="▸"/>
            </a:pPr>
            <a:r>
              <a:rPr lang="en-US" sz="7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+ Thick Client</a:t>
            </a:r>
            <a:endParaRPr lang="en-US" sz="700" dirty="0"/>
          </a:p>
          <a:p>
            <a:pPr marL="342900" indent="-342900">
              <a:spcAft>
                <a:spcPts val="300"/>
              </a:spcAft>
              <a:buSzPct val="100000"/>
              <a:buChar char="▸"/>
            </a:pPr>
            <a:r>
              <a:rPr lang="en-US" sz="7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Registry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3547872" y="1540764"/>
            <a:ext cx="91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D87"/>
                </a:solidFill>
              </a:rPr>
              <a:t>▶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3648456" y="804672"/>
            <a:ext cx="1508760" cy="1691640"/>
          </a:xfrm>
          <a:prstGeom prst="rect">
            <a:avLst/>
          </a:prstGeom>
          <a:solidFill>
            <a:srgbClr val="3B2506"/>
          </a:solidFill>
          <a:ln w="7620">
            <a:solidFill>
              <a:srgbClr val="F59E0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648456" y="804672"/>
            <a:ext cx="150876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3" name="Text 31"/>
          <p:cNvSpPr/>
          <p:nvPr/>
        </p:nvSpPr>
        <p:spPr>
          <a:xfrm>
            <a:off x="3721608" y="896112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721608" y="1078992"/>
            <a:ext cx="1362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VALIDATE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3721608" y="1280160"/>
            <a:ext cx="1362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 Executor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3758184" y="1481328"/>
            <a:ext cx="1289304" cy="0"/>
          </a:xfrm>
          <a:prstGeom prst="line">
            <a:avLst/>
          </a:prstGeom>
          <a:noFill/>
          <a:ln w="3810">
            <a:solidFill>
              <a:srgbClr val="F59E0B"/>
            </a:solidFill>
            <a:prstDash val="dash"/>
          </a:ln>
        </p:spPr>
      </p:sp>
      <p:sp>
        <p:nvSpPr>
          <p:cNvPr id="37" name="Text 35"/>
          <p:cNvSpPr/>
          <p:nvPr/>
        </p:nvSpPr>
        <p:spPr>
          <a:xfrm>
            <a:off x="3739896" y="1536192"/>
            <a:ext cx="1325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▸"/>
            </a:pPr>
            <a:r>
              <a:rPr lang="en-US" sz="7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Generation</a:t>
            </a:r>
            <a:endParaRPr lang="en-US" sz="700" dirty="0"/>
          </a:p>
          <a:p>
            <a:pPr marL="342900" indent="-342900">
              <a:spcAft>
                <a:spcPts val="300"/>
              </a:spcAft>
              <a:buSzPct val="100000"/>
              <a:buChar char="▸"/>
            </a:pPr>
            <a:r>
              <a:rPr lang="en-US" sz="7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UAT Sandbox Test</a:t>
            </a:r>
            <a:endParaRPr lang="en-US" sz="700" dirty="0"/>
          </a:p>
          <a:p>
            <a:pPr marL="342900" indent="-342900">
              <a:spcAft>
                <a:spcPts val="300"/>
              </a:spcAft>
              <a:buSzPct val="100000"/>
              <a:buChar char="▸"/>
            </a:pPr>
            <a:r>
              <a:rPr lang="en-US" sz="7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Preprod A/B Testing</a:t>
            </a:r>
            <a:endParaRPr lang="en-US" sz="700" dirty="0"/>
          </a:p>
          <a:p>
            <a:pPr marL="342900" indent="-342900">
              <a:spcAft>
                <a:spcPts val="300"/>
              </a:spcAft>
              <a:buSzPct val="100000"/>
              <a:buChar char="▸"/>
            </a:pPr>
            <a:r>
              <a:rPr lang="en-US" sz="7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Validation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5166360" y="1540764"/>
            <a:ext cx="91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D87"/>
                </a:solidFill>
              </a:rPr>
              <a:t>▶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5266944" y="804672"/>
            <a:ext cx="1508760" cy="1691640"/>
          </a:xfrm>
          <a:prstGeom prst="rect">
            <a:avLst/>
          </a:prstGeom>
          <a:solidFill>
            <a:srgbClr val="3B0D0D"/>
          </a:solidFill>
          <a:ln w="7620">
            <a:solidFill>
              <a:srgbClr val="EF444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5266944" y="804672"/>
            <a:ext cx="1508760" cy="54864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41" name="Text 39"/>
          <p:cNvSpPr/>
          <p:nvPr/>
        </p:nvSpPr>
        <p:spPr>
          <a:xfrm>
            <a:off x="5340096" y="896112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5340096" y="1078992"/>
            <a:ext cx="1362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EXECUTE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5340096" y="1280160"/>
            <a:ext cx="1362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Runtime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5376672" y="1481328"/>
            <a:ext cx="1289304" cy="0"/>
          </a:xfrm>
          <a:prstGeom prst="line">
            <a:avLst/>
          </a:prstGeom>
          <a:noFill/>
          <a:ln w="3810">
            <a:solidFill>
              <a:srgbClr val="EF4444"/>
            </a:solidFill>
            <a:prstDash val="dash"/>
          </a:ln>
        </p:spPr>
      </p:sp>
      <p:sp>
        <p:nvSpPr>
          <p:cNvPr id="45" name="Text 43"/>
          <p:cNvSpPr/>
          <p:nvPr/>
        </p:nvSpPr>
        <p:spPr>
          <a:xfrm>
            <a:off x="5358384" y="1536192"/>
            <a:ext cx="1325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▸"/>
            </a:pPr>
            <a:r>
              <a:rPr lang="en-US" sz="7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Event Bus</a:t>
            </a:r>
            <a:endParaRPr lang="en-US" sz="700" dirty="0"/>
          </a:p>
          <a:p>
            <a:pPr marL="342900" indent="-342900">
              <a:spcAft>
                <a:spcPts val="300"/>
              </a:spcAft>
              <a:buSzPct val="100000"/>
              <a:buChar char="▸"/>
            </a:pPr>
            <a:r>
              <a:rPr lang="en-US" sz="7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ADK Agent Containers</a:t>
            </a:r>
            <a:endParaRPr lang="en-US" sz="700" dirty="0"/>
          </a:p>
          <a:p>
            <a:pPr marL="342900" indent="-342900">
              <a:spcAft>
                <a:spcPts val="300"/>
              </a:spcAft>
              <a:buSzPct val="100000"/>
              <a:buChar char="▸"/>
            </a:pPr>
            <a:r>
              <a:rPr lang="en-US" sz="7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Results Store</a:t>
            </a:r>
            <a:endParaRPr lang="en-US" sz="700" dirty="0"/>
          </a:p>
          <a:p>
            <a:pPr marL="342900" indent="-342900">
              <a:spcAft>
                <a:spcPts val="300"/>
              </a:spcAft>
              <a:buSzPct val="100000"/>
              <a:buChar char="▸"/>
            </a:pPr>
            <a:r>
              <a:rPr lang="en-US" sz="7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BRES / CDCR Agents</a:t>
            </a:r>
            <a:endParaRPr lang="en-US" sz="700" dirty="0"/>
          </a:p>
        </p:txBody>
      </p:sp>
      <p:sp>
        <p:nvSpPr>
          <p:cNvPr id="46" name="Text 44"/>
          <p:cNvSpPr/>
          <p:nvPr/>
        </p:nvSpPr>
        <p:spPr>
          <a:xfrm>
            <a:off x="6784848" y="1540764"/>
            <a:ext cx="91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D87"/>
                </a:solidFill>
              </a:rPr>
              <a:t>▶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6885432" y="804672"/>
            <a:ext cx="1508760" cy="1691640"/>
          </a:xfrm>
          <a:prstGeom prst="rect">
            <a:avLst/>
          </a:prstGeom>
          <a:solidFill>
            <a:srgbClr val="2A2008"/>
          </a:solidFill>
          <a:ln w="7620">
            <a:solidFill>
              <a:srgbClr val="D4A84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6885432" y="804672"/>
            <a:ext cx="150876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9" name="Text 47"/>
          <p:cNvSpPr/>
          <p:nvPr/>
        </p:nvSpPr>
        <p:spPr>
          <a:xfrm>
            <a:off x="6958584" y="896112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6958584" y="1078992"/>
            <a:ext cx="1362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GOVERN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6958584" y="1280160"/>
            <a:ext cx="1362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Tower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6995160" y="1481328"/>
            <a:ext cx="1289304" cy="0"/>
          </a:xfrm>
          <a:prstGeom prst="line">
            <a:avLst/>
          </a:prstGeom>
          <a:noFill/>
          <a:ln w="3810">
            <a:solidFill>
              <a:srgbClr val="D4A843"/>
            </a:solidFill>
            <a:prstDash val="dash"/>
          </a:ln>
        </p:spPr>
      </p:sp>
      <p:sp>
        <p:nvSpPr>
          <p:cNvPr id="53" name="Text 51"/>
          <p:cNvSpPr/>
          <p:nvPr/>
        </p:nvSpPr>
        <p:spPr>
          <a:xfrm>
            <a:off x="6976872" y="1536192"/>
            <a:ext cx="1325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▸"/>
            </a:pPr>
            <a:r>
              <a:rPr lang="en-US" sz="7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Neo4J Knowledge Graph</a:t>
            </a:r>
            <a:endParaRPr lang="en-US" sz="700" dirty="0"/>
          </a:p>
          <a:p>
            <a:pPr marL="342900" indent="-342900">
              <a:spcAft>
                <a:spcPts val="300"/>
              </a:spcAft>
              <a:buSzPct val="100000"/>
              <a:buChar char="▸"/>
            </a:pPr>
            <a:r>
              <a:rPr lang="en-US" sz="7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Dashboard</a:t>
            </a:r>
            <a:endParaRPr lang="en-US" sz="700" dirty="0"/>
          </a:p>
          <a:p>
            <a:pPr marL="342900" indent="-342900">
              <a:spcAft>
                <a:spcPts val="300"/>
              </a:spcAft>
              <a:buSzPct val="100000"/>
              <a:buChar char="▸"/>
            </a:pPr>
            <a:r>
              <a:rPr lang="en-US" sz="7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Cognitive Pods Telemetry</a:t>
            </a:r>
            <a:endParaRPr lang="en-US" sz="700" dirty="0"/>
          </a:p>
          <a:p>
            <a:pPr marL="342900" indent="-342900">
              <a:spcAft>
                <a:spcPts val="300"/>
              </a:spcAft>
              <a:buSzPct val="100000"/>
              <a:buChar char="▸"/>
            </a:pPr>
            <a:r>
              <a:rPr lang="en-US" sz="7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Drill-Down</a:t>
            </a:r>
            <a:endParaRPr lang="en-US" sz="700" dirty="0"/>
          </a:p>
        </p:txBody>
      </p:sp>
      <p:sp>
        <p:nvSpPr>
          <p:cNvPr id="54" name="Text 52"/>
          <p:cNvSpPr/>
          <p:nvPr/>
        </p:nvSpPr>
        <p:spPr>
          <a:xfrm>
            <a:off x="411480" y="2651760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D4A84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 STRATEGIC PILLARS FOR 10X GOAL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411480" y="2889504"/>
            <a:ext cx="8321040" cy="0"/>
          </a:xfrm>
          <a:prstGeom prst="line">
            <a:avLst/>
          </a:prstGeom>
          <a:noFill/>
          <a:ln w="5080">
            <a:solidFill>
              <a:srgbClr val="D4A843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411480" y="2971800"/>
            <a:ext cx="201168" cy="155448"/>
          </a:xfrm>
          <a:prstGeom prst="rect">
            <a:avLst>
              <a:gd name="adj" fmla="val 11765"/>
            </a:avLst>
          </a:prstGeom>
          <a:solidFill>
            <a:srgbClr val="3B82F6"/>
          </a:solidFill>
          <a:ln/>
        </p:spPr>
      </p:sp>
      <p:sp>
        <p:nvSpPr>
          <p:cNvPr id="57" name="Text 55"/>
          <p:cNvSpPr/>
          <p:nvPr/>
        </p:nvSpPr>
        <p:spPr>
          <a:xfrm>
            <a:off x="411480" y="2971800"/>
            <a:ext cx="20116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A0F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650" dirty="0"/>
          </a:p>
        </p:txBody>
      </p:sp>
      <p:sp>
        <p:nvSpPr>
          <p:cNvPr id="58" name="Text 56"/>
          <p:cNvSpPr/>
          <p:nvPr/>
        </p:nvSpPr>
        <p:spPr>
          <a:xfrm>
            <a:off x="667512" y="2962656"/>
            <a:ext cx="10972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Synthetic Data</a:t>
            </a:r>
            <a:endParaRPr lang="en-US" sz="750" dirty="0"/>
          </a:p>
        </p:txBody>
      </p:sp>
      <p:sp>
        <p:nvSpPr>
          <p:cNvPr id="59" name="Text 57"/>
          <p:cNvSpPr/>
          <p:nvPr/>
        </p:nvSpPr>
        <p:spPr>
          <a:xfrm>
            <a:off x="1783080" y="2962656"/>
            <a:ext cx="26974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AA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Mine production systems via MCP Datatool — eliminate manual test data creation entirely</a:t>
            </a:r>
            <a:endParaRPr lang="en-US" sz="650" dirty="0"/>
          </a:p>
        </p:txBody>
      </p:sp>
      <p:sp>
        <p:nvSpPr>
          <p:cNvPr id="60" name="Shape 58"/>
          <p:cNvSpPr/>
          <p:nvPr/>
        </p:nvSpPr>
        <p:spPr>
          <a:xfrm>
            <a:off x="411480" y="3172968"/>
            <a:ext cx="201168" cy="155448"/>
          </a:xfrm>
          <a:prstGeom prst="rect">
            <a:avLst>
              <a:gd name="adj" fmla="val 11765"/>
            </a:avLst>
          </a:prstGeom>
          <a:solidFill>
            <a:srgbClr val="10B981"/>
          </a:solidFill>
          <a:ln/>
        </p:spPr>
      </p:sp>
      <p:sp>
        <p:nvSpPr>
          <p:cNvPr id="61" name="Text 59"/>
          <p:cNvSpPr/>
          <p:nvPr/>
        </p:nvSpPr>
        <p:spPr>
          <a:xfrm>
            <a:off x="411480" y="3172968"/>
            <a:ext cx="20116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A0F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650" dirty="0"/>
          </a:p>
        </p:txBody>
      </p:sp>
      <p:sp>
        <p:nvSpPr>
          <p:cNvPr id="62" name="Text 60"/>
          <p:cNvSpPr/>
          <p:nvPr/>
        </p:nvSpPr>
        <p:spPr>
          <a:xfrm>
            <a:off x="667512" y="3163824"/>
            <a:ext cx="10972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Universal Data Fabric</a:t>
            </a:r>
            <a:endParaRPr lang="en-US" sz="750" dirty="0"/>
          </a:p>
        </p:txBody>
      </p:sp>
      <p:sp>
        <p:nvSpPr>
          <p:cNvPr id="63" name="Text 61"/>
          <p:cNvSpPr/>
          <p:nvPr/>
        </p:nvSpPr>
        <p:spPr>
          <a:xfrm>
            <a:off x="1783080" y="3163824"/>
            <a:ext cx="26974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AA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MCP Registry connects all enterprise sources — ICMP, ECM, CoreTax, Indigo, APIs</a:t>
            </a:r>
            <a:endParaRPr lang="en-US" sz="650" dirty="0"/>
          </a:p>
        </p:txBody>
      </p:sp>
      <p:sp>
        <p:nvSpPr>
          <p:cNvPr id="64" name="Shape 62"/>
          <p:cNvSpPr/>
          <p:nvPr/>
        </p:nvSpPr>
        <p:spPr>
          <a:xfrm>
            <a:off x="411480" y="3374136"/>
            <a:ext cx="201168" cy="155448"/>
          </a:xfrm>
          <a:prstGeom prst="rect">
            <a:avLst>
              <a:gd name="adj" fmla="val 11765"/>
            </a:avLst>
          </a:prstGeom>
          <a:solidFill>
            <a:srgbClr val="3B82F6"/>
          </a:solidFill>
          <a:ln/>
        </p:spPr>
      </p:sp>
      <p:sp>
        <p:nvSpPr>
          <p:cNvPr id="65" name="Text 63"/>
          <p:cNvSpPr/>
          <p:nvPr/>
        </p:nvSpPr>
        <p:spPr>
          <a:xfrm>
            <a:off x="411480" y="3374136"/>
            <a:ext cx="20116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A0F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650" dirty="0"/>
          </a:p>
        </p:txBody>
      </p:sp>
      <p:sp>
        <p:nvSpPr>
          <p:cNvPr id="66" name="Text 64"/>
          <p:cNvSpPr/>
          <p:nvPr/>
        </p:nvSpPr>
        <p:spPr>
          <a:xfrm>
            <a:off x="667512" y="3364992"/>
            <a:ext cx="10972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Observe-First Learning</a:t>
            </a:r>
            <a:endParaRPr lang="en-US" sz="750" dirty="0"/>
          </a:p>
        </p:txBody>
      </p:sp>
      <p:sp>
        <p:nvSpPr>
          <p:cNvPr id="67" name="Text 65"/>
          <p:cNvSpPr/>
          <p:nvPr/>
        </p:nvSpPr>
        <p:spPr>
          <a:xfrm>
            <a:off x="1783080" y="3364992"/>
            <a:ext cx="26974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AA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SKAN + VLM capture human workflows as replayable SOPs — no manual documentation</a:t>
            </a:r>
            <a:endParaRPr lang="en-US" sz="650" dirty="0"/>
          </a:p>
        </p:txBody>
      </p:sp>
      <p:sp>
        <p:nvSpPr>
          <p:cNvPr id="68" name="Shape 66"/>
          <p:cNvSpPr/>
          <p:nvPr/>
        </p:nvSpPr>
        <p:spPr>
          <a:xfrm>
            <a:off x="411480" y="3575304"/>
            <a:ext cx="201168" cy="155448"/>
          </a:xfrm>
          <a:prstGeom prst="rect">
            <a:avLst>
              <a:gd name="adj" fmla="val 11765"/>
            </a:avLst>
          </a:prstGeom>
          <a:solidFill>
            <a:srgbClr val="F59E0B"/>
          </a:solidFill>
          <a:ln/>
        </p:spPr>
      </p:sp>
      <p:sp>
        <p:nvSpPr>
          <p:cNvPr id="69" name="Text 67"/>
          <p:cNvSpPr/>
          <p:nvPr/>
        </p:nvSpPr>
        <p:spPr>
          <a:xfrm>
            <a:off x="411480" y="3575304"/>
            <a:ext cx="20116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A0F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650" dirty="0"/>
          </a:p>
        </p:txBody>
      </p:sp>
      <p:sp>
        <p:nvSpPr>
          <p:cNvPr id="70" name="Text 68"/>
          <p:cNvSpPr/>
          <p:nvPr/>
        </p:nvSpPr>
        <p:spPr>
          <a:xfrm>
            <a:off x="667512" y="3566160"/>
            <a:ext cx="10972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Guarantee</a:t>
            </a:r>
            <a:endParaRPr lang="en-US" sz="750" dirty="0"/>
          </a:p>
        </p:txBody>
      </p:sp>
      <p:sp>
        <p:nvSpPr>
          <p:cNvPr id="71" name="Text 69"/>
          <p:cNvSpPr/>
          <p:nvPr/>
        </p:nvSpPr>
        <p:spPr>
          <a:xfrm>
            <a:off x="1783080" y="3566160"/>
            <a:ext cx="26974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AA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Three-layer validation (Rules Engine → LLM Reasoning → Human-in-Loop) ensures auditability</a:t>
            </a:r>
            <a:endParaRPr lang="en-US" sz="650" dirty="0"/>
          </a:p>
        </p:txBody>
      </p:sp>
      <p:sp>
        <p:nvSpPr>
          <p:cNvPr id="72" name="Shape 70"/>
          <p:cNvSpPr/>
          <p:nvPr/>
        </p:nvSpPr>
        <p:spPr>
          <a:xfrm>
            <a:off x="411480" y="3776472"/>
            <a:ext cx="201168" cy="155448"/>
          </a:xfrm>
          <a:prstGeom prst="rect">
            <a:avLst>
              <a:gd name="adj" fmla="val 11765"/>
            </a:avLst>
          </a:prstGeom>
          <a:solidFill>
            <a:srgbClr val="EF4444"/>
          </a:solidFill>
          <a:ln/>
        </p:spPr>
      </p:sp>
      <p:sp>
        <p:nvSpPr>
          <p:cNvPr id="73" name="Text 71"/>
          <p:cNvSpPr/>
          <p:nvPr/>
        </p:nvSpPr>
        <p:spPr>
          <a:xfrm>
            <a:off x="411480" y="3776472"/>
            <a:ext cx="20116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A0F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650" dirty="0"/>
          </a:p>
        </p:txBody>
      </p:sp>
      <p:sp>
        <p:nvSpPr>
          <p:cNvPr id="74" name="Text 72"/>
          <p:cNvSpPr/>
          <p:nvPr/>
        </p:nvSpPr>
        <p:spPr>
          <a:xfrm>
            <a:off x="667512" y="3767328"/>
            <a:ext cx="10972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over Code</a:t>
            </a:r>
            <a:endParaRPr lang="en-US" sz="750" dirty="0"/>
          </a:p>
        </p:txBody>
      </p:sp>
      <p:sp>
        <p:nvSpPr>
          <p:cNvPr id="75" name="Text 73"/>
          <p:cNvSpPr/>
          <p:nvPr/>
        </p:nvSpPr>
        <p:spPr>
          <a:xfrm>
            <a:off x="1783080" y="3767328"/>
            <a:ext cx="26974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AA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ADK agent code across UAT / Preprod / Prod — only YAML configs change per environment</a:t>
            </a:r>
            <a:endParaRPr lang="en-US" sz="650" dirty="0"/>
          </a:p>
        </p:txBody>
      </p:sp>
      <p:sp>
        <p:nvSpPr>
          <p:cNvPr id="76" name="Shape 74"/>
          <p:cNvSpPr/>
          <p:nvPr/>
        </p:nvSpPr>
        <p:spPr>
          <a:xfrm>
            <a:off x="4663440" y="2971800"/>
            <a:ext cx="201168" cy="155448"/>
          </a:xfrm>
          <a:prstGeom prst="rect">
            <a:avLst>
              <a:gd name="adj" fmla="val 11765"/>
            </a:avLst>
          </a:prstGeom>
          <a:solidFill>
            <a:srgbClr val="D4A843"/>
          </a:solidFill>
          <a:ln/>
        </p:spPr>
      </p:sp>
      <p:sp>
        <p:nvSpPr>
          <p:cNvPr id="77" name="Text 75"/>
          <p:cNvSpPr/>
          <p:nvPr/>
        </p:nvSpPr>
        <p:spPr>
          <a:xfrm>
            <a:off x="4663440" y="2971800"/>
            <a:ext cx="20116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A0F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650" dirty="0"/>
          </a:p>
        </p:txBody>
      </p:sp>
      <p:sp>
        <p:nvSpPr>
          <p:cNvPr id="78" name="Text 76"/>
          <p:cNvSpPr/>
          <p:nvPr/>
        </p:nvSpPr>
        <p:spPr>
          <a:xfrm>
            <a:off x="4919472" y="2962656"/>
            <a:ext cx="10972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Factory Model at Scale</a:t>
            </a:r>
            <a:endParaRPr lang="en-US" sz="750" dirty="0"/>
          </a:p>
        </p:txBody>
      </p:sp>
      <p:sp>
        <p:nvSpPr>
          <p:cNvPr id="79" name="Text 77"/>
          <p:cNvSpPr/>
          <p:nvPr/>
        </p:nvSpPr>
        <p:spPr>
          <a:xfrm>
            <a:off x="6035040" y="2962656"/>
            <a:ext cx="26974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AA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2,500 controls collapse into ~50 Control Families — build once, deploy across variants</a:t>
            </a:r>
            <a:endParaRPr lang="en-US" sz="650" dirty="0"/>
          </a:p>
        </p:txBody>
      </p:sp>
      <p:sp>
        <p:nvSpPr>
          <p:cNvPr id="80" name="Shape 78"/>
          <p:cNvSpPr/>
          <p:nvPr/>
        </p:nvSpPr>
        <p:spPr>
          <a:xfrm>
            <a:off x="4663440" y="3172968"/>
            <a:ext cx="201168" cy="155448"/>
          </a:xfrm>
          <a:prstGeom prst="rect">
            <a:avLst>
              <a:gd name="adj" fmla="val 11765"/>
            </a:avLst>
          </a:prstGeom>
          <a:solidFill>
            <a:srgbClr val="F59E0B"/>
          </a:solidFill>
          <a:ln/>
        </p:spPr>
      </p:sp>
      <p:sp>
        <p:nvSpPr>
          <p:cNvPr id="81" name="Text 79"/>
          <p:cNvSpPr/>
          <p:nvPr/>
        </p:nvSpPr>
        <p:spPr>
          <a:xfrm>
            <a:off x="4663440" y="3172968"/>
            <a:ext cx="20116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A0F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650" dirty="0"/>
          </a:p>
        </p:txBody>
      </p:sp>
      <p:sp>
        <p:nvSpPr>
          <p:cNvPr id="82" name="Text 80"/>
          <p:cNvSpPr/>
          <p:nvPr/>
        </p:nvSpPr>
        <p:spPr>
          <a:xfrm>
            <a:off x="4919472" y="3163824"/>
            <a:ext cx="10972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A/B Testing Pipeline</a:t>
            </a:r>
            <a:endParaRPr lang="en-US" sz="750" dirty="0"/>
          </a:p>
        </p:txBody>
      </p:sp>
      <p:sp>
        <p:nvSpPr>
          <p:cNvPr id="83" name="Text 81"/>
          <p:cNvSpPr/>
          <p:nvPr/>
        </p:nvSpPr>
        <p:spPr>
          <a:xfrm>
            <a:off x="6035040" y="3163824"/>
            <a:ext cx="26974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AA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= Control Group, AI = Treatment Group — measurable quality parity before promotion</a:t>
            </a:r>
            <a:endParaRPr lang="en-US" sz="650" dirty="0"/>
          </a:p>
        </p:txBody>
      </p:sp>
      <p:sp>
        <p:nvSpPr>
          <p:cNvPr id="84" name="Shape 82"/>
          <p:cNvSpPr/>
          <p:nvPr/>
        </p:nvSpPr>
        <p:spPr>
          <a:xfrm>
            <a:off x="4663440" y="3374136"/>
            <a:ext cx="201168" cy="155448"/>
          </a:xfrm>
          <a:prstGeom prst="rect">
            <a:avLst>
              <a:gd name="adj" fmla="val 11765"/>
            </a:avLst>
          </a:prstGeom>
          <a:solidFill>
            <a:srgbClr val="D4A843"/>
          </a:solidFill>
          <a:ln/>
        </p:spPr>
      </p:sp>
      <p:sp>
        <p:nvSpPr>
          <p:cNvPr id="85" name="Text 83"/>
          <p:cNvSpPr/>
          <p:nvPr/>
        </p:nvSpPr>
        <p:spPr>
          <a:xfrm>
            <a:off x="4663440" y="3374136"/>
            <a:ext cx="20116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A0F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650" dirty="0"/>
          </a:p>
        </p:txBody>
      </p:sp>
      <p:sp>
        <p:nvSpPr>
          <p:cNvPr id="86" name="Text 84"/>
          <p:cNvSpPr/>
          <p:nvPr/>
        </p:nvSpPr>
        <p:spPr>
          <a:xfrm>
            <a:off x="4919472" y="3364992"/>
            <a:ext cx="10972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Cognitive Knowledge Pods</a:t>
            </a:r>
            <a:endParaRPr lang="en-US" sz="750" dirty="0"/>
          </a:p>
        </p:txBody>
      </p:sp>
      <p:sp>
        <p:nvSpPr>
          <p:cNvPr id="87" name="Text 85"/>
          <p:cNvSpPr/>
          <p:nvPr/>
        </p:nvSpPr>
        <p:spPr>
          <a:xfrm>
            <a:off x="6035040" y="3364992"/>
            <a:ext cx="26974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AA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Domain-specific agent clusters (KYC, Credit, Tax, Payments) with shared Neo4J Graph intelligence</a:t>
            </a:r>
            <a:endParaRPr lang="en-US" sz="650" dirty="0"/>
          </a:p>
        </p:txBody>
      </p:sp>
      <p:sp>
        <p:nvSpPr>
          <p:cNvPr id="88" name="Shape 86"/>
          <p:cNvSpPr/>
          <p:nvPr/>
        </p:nvSpPr>
        <p:spPr>
          <a:xfrm>
            <a:off x="4663440" y="3575304"/>
            <a:ext cx="201168" cy="155448"/>
          </a:xfrm>
          <a:prstGeom prst="rect">
            <a:avLst>
              <a:gd name="adj" fmla="val 11765"/>
            </a:avLst>
          </a:prstGeom>
          <a:solidFill>
            <a:srgbClr val="D4A843"/>
          </a:solidFill>
          <a:ln/>
        </p:spPr>
      </p:sp>
      <p:sp>
        <p:nvSpPr>
          <p:cNvPr id="89" name="Text 87"/>
          <p:cNvSpPr/>
          <p:nvPr/>
        </p:nvSpPr>
        <p:spPr>
          <a:xfrm>
            <a:off x="4663440" y="3575304"/>
            <a:ext cx="20116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A0F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650" dirty="0"/>
          </a:p>
        </p:txBody>
      </p:sp>
      <p:sp>
        <p:nvSpPr>
          <p:cNvPr id="90" name="Text 88"/>
          <p:cNvSpPr/>
          <p:nvPr/>
        </p:nvSpPr>
        <p:spPr>
          <a:xfrm>
            <a:off x="4919472" y="3566160"/>
            <a:ext cx="10972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Control Tower</a:t>
            </a:r>
            <a:endParaRPr lang="en-US" sz="750" dirty="0"/>
          </a:p>
        </p:txBody>
      </p:sp>
      <p:sp>
        <p:nvSpPr>
          <p:cNvPr id="91" name="Text 89"/>
          <p:cNvSpPr/>
          <p:nvPr/>
        </p:nvSpPr>
        <p:spPr>
          <a:xfrm>
            <a:off x="6035040" y="3566160"/>
            <a:ext cx="26974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AA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executive dashboard with pod telemetry, drill-down to individual control execution</a:t>
            </a:r>
            <a:endParaRPr lang="en-US" sz="650" dirty="0"/>
          </a:p>
        </p:txBody>
      </p:sp>
      <p:sp>
        <p:nvSpPr>
          <p:cNvPr id="92" name="Shape 90"/>
          <p:cNvSpPr/>
          <p:nvPr/>
        </p:nvSpPr>
        <p:spPr>
          <a:xfrm>
            <a:off x="4663440" y="3776472"/>
            <a:ext cx="201168" cy="155448"/>
          </a:xfrm>
          <a:prstGeom prst="rect">
            <a:avLst>
              <a:gd name="adj" fmla="val 11765"/>
            </a:avLst>
          </a:prstGeom>
          <a:solidFill>
            <a:srgbClr val="EF4444"/>
          </a:solidFill>
          <a:ln/>
        </p:spPr>
      </p:sp>
      <p:sp>
        <p:nvSpPr>
          <p:cNvPr id="93" name="Text 91"/>
          <p:cNvSpPr/>
          <p:nvPr/>
        </p:nvSpPr>
        <p:spPr>
          <a:xfrm>
            <a:off x="4663440" y="3776472"/>
            <a:ext cx="20116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A0F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650" dirty="0"/>
          </a:p>
        </p:txBody>
      </p:sp>
      <p:sp>
        <p:nvSpPr>
          <p:cNvPr id="94" name="Text 92"/>
          <p:cNvSpPr/>
          <p:nvPr/>
        </p:nvSpPr>
        <p:spPr>
          <a:xfrm>
            <a:off x="4919472" y="3767328"/>
            <a:ext cx="10972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Self-Improving Agents</a:t>
            </a:r>
            <a:endParaRPr lang="en-US" sz="750" dirty="0"/>
          </a:p>
        </p:txBody>
      </p:sp>
      <p:sp>
        <p:nvSpPr>
          <p:cNvPr id="95" name="Text 93"/>
          <p:cNvSpPr/>
          <p:nvPr/>
        </p:nvSpPr>
        <p:spPr>
          <a:xfrm>
            <a:off x="6035040" y="3767328"/>
            <a:ext cx="26974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AA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loops refine SOP accuracy — every cycle tightens the confidence threshold</a:t>
            </a:r>
            <a:endParaRPr lang="en-US" sz="650" dirty="0"/>
          </a:p>
        </p:txBody>
      </p:sp>
      <p:sp>
        <p:nvSpPr>
          <p:cNvPr id="96" name="Shape 94"/>
          <p:cNvSpPr/>
          <p:nvPr/>
        </p:nvSpPr>
        <p:spPr>
          <a:xfrm>
            <a:off x="0" y="4882896"/>
            <a:ext cx="9144000" cy="260604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97" name="Text 95"/>
          <p:cNvSpPr/>
          <p:nvPr/>
        </p:nvSpPr>
        <p:spPr>
          <a:xfrm>
            <a:off x="411480" y="4882896"/>
            <a:ext cx="182880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spc="300" kern="0" dirty="0">
                <a:solidFill>
                  <a:srgbClr val="5A6D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600" dirty="0"/>
          </a:p>
        </p:txBody>
      </p:sp>
      <p:sp>
        <p:nvSpPr>
          <p:cNvPr id="98" name="Shape 96"/>
          <p:cNvSpPr/>
          <p:nvPr/>
        </p:nvSpPr>
        <p:spPr>
          <a:xfrm>
            <a:off x="5029200" y="4965192"/>
            <a:ext cx="91440" cy="9144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99" name="Text 97"/>
          <p:cNvSpPr/>
          <p:nvPr/>
        </p:nvSpPr>
        <p:spPr>
          <a:xfrm>
            <a:off x="5157216" y="4882896"/>
            <a:ext cx="64008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9AA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</a:t>
            </a:r>
            <a:endParaRPr lang="en-US" sz="600" dirty="0"/>
          </a:p>
        </p:txBody>
      </p:sp>
      <p:sp>
        <p:nvSpPr>
          <p:cNvPr id="100" name="Shape 98"/>
          <p:cNvSpPr/>
          <p:nvPr/>
        </p:nvSpPr>
        <p:spPr>
          <a:xfrm>
            <a:off x="5870448" y="4965192"/>
            <a:ext cx="91440" cy="9144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01" name="Text 99"/>
          <p:cNvSpPr/>
          <p:nvPr/>
        </p:nvSpPr>
        <p:spPr>
          <a:xfrm>
            <a:off x="5998464" y="4882896"/>
            <a:ext cx="64008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9AA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</a:t>
            </a:r>
            <a:endParaRPr lang="en-US" sz="600" dirty="0"/>
          </a:p>
        </p:txBody>
      </p:sp>
      <p:sp>
        <p:nvSpPr>
          <p:cNvPr id="102" name="Shape 100"/>
          <p:cNvSpPr/>
          <p:nvPr/>
        </p:nvSpPr>
        <p:spPr>
          <a:xfrm>
            <a:off x="6711696" y="4965192"/>
            <a:ext cx="91440" cy="914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03" name="Text 101"/>
          <p:cNvSpPr/>
          <p:nvPr/>
        </p:nvSpPr>
        <p:spPr>
          <a:xfrm>
            <a:off x="6839712" y="4882896"/>
            <a:ext cx="64008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9AA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</a:t>
            </a:r>
            <a:endParaRPr lang="en-US" sz="600" dirty="0"/>
          </a:p>
        </p:txBody>
      </p:sp>
      <p:sp>
        <p:nvSpPr>
          <p:cNvPr id="104" name="Shape 102"/>
          <p:cNvSpPr/>
          <p:nvPr/>
        </p:nvSpPr>
        <p:spPr>
          <a:xfrm>
            <a:off x="7552944" y="4965192"/>
            <a:ext cx="91440" cy="9144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05" name="Text 103"/>
          <p:cNvSpPr/>
          <p:nvPr/>
        </p:nvSpPr>
        <p:spPr>
          <a:xfrm>
            <a:off x="7680960" y="4882896"/>
            <a:ext cx="64008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9AA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</a:t>
            </a:r>
            <a:endParaRPr lang="en-US" sz="600" dirty="0"/>
          </a:p>
        </p:txBody>
      </p:sp>
      <p:sp>
        <p:nvSpPr>
          <p:cNvPr id="106" name="Shape 104"/>
          <p:cNvSpPr/>
          <p:nvPr/>
        </p:nvSpPr>
        <p:spPr>
          <a:xfrm>
            <a:off x="8394192" y="4965192"/>
            <a:ext cx="91440" cy="91440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107" name="Text 105"/>
          <p:cNvSpPr/>
          <p:nvPr/>
        </p:nvSpPr>
        <p:spPr>
          <a:xfrm>
            <a:off x="8522208" y="4882896"/>
            <a:ext cx="64008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9AA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</a:t>
            </a:r>
            <a:endParaRPr lang="en-US" sz="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Observe to Agent — 10X QA Automation</dc:title>
  <dc:subject>PptxGenJS Presentation</dc:subject>
  <dc:creator>QA Control Automation</dc:creator>
  <cp:lastModifiedBy>QA Control Automation</cp:lastModifiedBy>
  <cp:revision>1</cp:revision>
  <dcterms:created xsi:type="dcterms:W3CDTF">2026-02-24T08:27:40Z</dcterms:created>
  <dcterms:modified xsi:type="dcterms:W3CDTF">2026-02-24T08:27:40Z</dcterms:modified>
</cp:coreProperties>
</file>