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" roundtripDataSignature="AMtx7mjUKjBB/rwYw1IUUHOijRTO/5yV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829ad6586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f829ad6586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O2I tells the agent what to do. Synapse tells it what exists and how to execute it — turning observed procedures into governed, executable agents.</a:t>
            </a:r>
            <a:endParaRPr/>
          </a:p>
        </p:txBody>
      </p:sp>
      <p:sp>
        <p:nvSpPr>
          <p:cNvPr id="14" name="Google Shape;14;g3f829ad6586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Synapse Gateway end-to-end: Discovery &amp; Registration (01-06) and Governed Execution (08-09) are Synapse-owned; Agent Generation (07) is owned by another POD team.</a:t>
            </a:r>
            <a:endParaRPr/>
          </a:p>
        </p:txBody>
      </p:sp>
      <p:sp>
        <p:nvSpPr>
          <p:cNvPr id="135" name="Google Shape;13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png"/><Relationship Id="rId10" Type="http://schemas.openxmlformats.org/officeDocument/2006/relationships/image" Target="../media/image6.png"/><Relationship Id="rId13" Type="http://schemas.openxmlformats.org/officeDocument/2006/relationships/image" Target="../media/image13.png"/><Relationship Id="rId1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3.png"/><Relationship Id="rId4" Type="http://schemas.openxmlformats.org/officeDocument/2006/relationships/image" Target="../media/image11.png"/><Relationship Id="rId9" Type="http://schemas.openxmlformats.org/officeDocument/2006/relationships/image" Target="../media/image4.png"/><Relationship Id="rId15" Type="http://schemas.openxmlformats.org/officeDocument/2006/relationships/image" Target="../media/image10.png"/><Relationship Id="rId14" Type="http://schemas.openxmlformats.org/officeDocument/2006/relationships/image" Target="../media/image38.png"/><Relationship Id="rId16" Type="http://schemas.openxmlformats.org/officeDocument/2006/relationships/image" Target="../media/image15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6.png"/><Relationship Id="rId10" Type="http://schemas.openxmlformats.org/officeDocument/2006/relationships/image" Target="../media/image30.png"/><Relationship Id="rId13" Type="http://schemas.openxmlformats.org/officeDocument/2006/relationships/image" Target="../media/image25.pn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Relationship Id="rId14" Type="http://schemas.openxmlformats.org/officeDocument/2006/relationships/image" Target="../media/image29.png"/><Relationship Id="rId5" Type="http://schemas.openxmlformats.org/officeDocument/2006/relationships/image" Target="../media/image37.png"/><Relationship Id="rId6" Type="http://schemas.openxmlformats.org/officeDocument/2006/relationships/image" Target="../media/image19.png"/><Relationship Id="rId7" Type="http://schemas.openxmlformats.org/officeDocument/2006/relationships/image" Target="../media/image24.png"/><Relationship Id="rId8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f829ad6586_0_4"/>
          <p:cNvSpPr/>
          <p:nvPr/>
        </p:nvSpPr>
        <p:spPr>
          <a:xfrm>
            <a:off x="320049" y="128025"/>
            <a:ext cx="103875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C1121C"/>
                </a:solidFill>
                <a:latin typeface="Arial"/>
                <a:ea typeface="Arial"/>
                <a:cs typeface="Arial"/>
                <a:sym typeface="Arial"/>
              </a:rPr>
              <a:t>SYNAPSE GATEWAY </a:t>
            </a:r>
            <a:r>
              <a:rPr b="1" i="0" lang="en-US" sz="1200" u="none" cap="none" strike="noStrike">
                <a:solidFill>
                  <a:srgbClr val="C1121C"/>
                </a:solidFill>
                <a:latin typeface="Arial"/>
                <a:ea typeface="Arial"/>
                <a:cs typeface="Arial"/>
                <a:sym typeface="Arial"/>
              </a:rPr>
              <a:t>(Tool Regis</a:t>
            </a:r>
            <a:r>
              <a:rPr b="1" lang="en-US" sz="1200">
                <a:solidFill>
                  <a:srgbClr val="C1121C"/>
                </a:solidFill>
              </a:rPr>
              <a:t>try and Data Dictionary)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g3f829ad6586_0_4"/>
          <p:cNvSpPr/>
          <p:nvPr/>
        </p:nvSpPr>
        <p:spPr>
          <a:xfrm>
            <a:off x="320040" y="749808"/>
            <a:ext cx="7315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O2I or O2A </a:t>
            </a:r>
            <a:r>
              <a:rPr lang="en-US"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Ingestion Pipelin </a:t>
            </a:r>
            <a:r>
              <a:rPr b="0" i="0" lang="en-US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alone cannot produce an executable agent — and what Synapse Gateway changes.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g3f829ad6586_0_4"/>
          <p:cNvSpPr/>
          <p:nvPr/>
        </p:nvSpPr>
        <p:spPr>
          <a:xfrm>
            <a:off x="320040" y="969264"/>
            <a:ext cx="11521500" cy="1060800"/>
          </a:xfrm>
          <a:prstGeom prst="roundRect">
            <a:avLst>
              <a:gd fmla="val 5172" name="adj"/>
            </a:avLst>
          </a:prstGeom>
          <a:solidFill>
            <a:srgbClr val="F7F6F6"/>
          </a:solidFill>
          <a:ln cap="flat" cmpd="sng" w="9525">
            <a:solidFill>
              <a:srgbClr val="EA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g3f829ad6586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" y="126187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g3f829ad6586_0_4"/>
          <p:cNvSpPr/>
          <p:nvPr/>
        </p:nvSpPr>
        <p:spPr>
          <a:xfrm>
            <a:off x="1115568" y="1280160"/>
            <a:ext cx="1051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1121C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1121C"/>
                </a:solidFill>
                <a:latin typeface="Arial"/>
                <a:ea typeface="Arial"/>
                <a:cs typeface="Arial"/>
                <a:sym typeface="Arial"/>
              </a:rPr>
              <a:t>STATEMENT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g3f829ad6586_0_4"/>
          <p:cNvCxnSpPr/>
          <p:nvPr/>
        </p:nvCxnSpPr>
        <p:spPr>
          <a:xfrm>
            <a:off x="2249424" y="1115568"/>
            <a:ext cx="0" cy="768000"/>
          </a:xfrm>
          <a:prstGeom prst="straightConnector1">
            <a:avLst/>
          </a:prstGeom>
          <a:noFill/>
          <a:ln cap="flat" cmpd="sng" w="9525">
            <a:solidFill>
              <a:srgbClr val="DFDCD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22" name="Google Shape;22;g3f829ad6586_0_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77440" y="115214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g3f829ad6586_0_4"/>
          <p:cNvSpPr/>
          <p:nvPr/>
        </p:nvSpPr>
        <p:spPr>
          <a:xfrm>
            <a:off x="2706624" y="1115568"/>
            <a:ext cx="1929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O2I output is observation-grade,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not execution-grade.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g3f829ad6586_0_4"/>
          <p:cNvSpPr/>
          <p:nvPr/>
        </p:nvSpPr>
        <p:spPr>
          <a:xfrm>
            <a:off x="2706624" y="1399032"/>
            <a:ext cx="1965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describes what happens on the UI, W</a:t>
            </a:r>
            <a:r>
              <a:rPr lang="en-US" sz="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okflow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750"/>
              <a:buFont typeface="Calibri"/>
              <a:buNone/>
            </a:pPr>
            <a:r>
              <a:rPr lang="en-US" sz="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Procedure, It won't understand the Data Layer.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750"/>
              <a:buFont typeface="Calibri"/>
              <a:buNone/>
            </a:pPr>
            <a:r>
              <a:rPr lang="en-US" sz="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Skill and Workflow - Have rich procedural information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" name="Google Shape;25;g3f829ad6586_0_4"/>
          <p:cNvCxnSpPr/>
          <p:nvPr/>
        </p:nvCxnSpPr>
        <p:spPr>
          <a:xfrm>
            <a:off x="4654296" y="1115568"/>
            <a:ext cx="0" cy="768000"/>
          </a:xfrm>
          <a:prstGeom prst="straightConnector1">
            <a:avLst/>
          </a:prstGeom>
          <a:noFill/>
          <a:ln cap="flat" cmpd="sng" w="9525">
            <a:solidFill>
              <a:srgbClr val="DFDCD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26" name="Google Shape;26;g3f829ad6586_0_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9160" y="115214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g3f829ad6586_0_4"/>
          <p:cNvSpPr/>
          <p:nvPr/>
        </p:nvSpPr>
        <p:spPr>
          <a:xfrm>
            <a:off x="5038344" y="1115568"/>
            <a:ext cx="19293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The art</a:t>
            </a:r>
            <a:r>
              <a:rPr b="1" lang="en-US" sz="800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80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fact is a UI.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g3f829ad6586_0_4"/>
          <p:cNvSpPr/>
          <p:nvPr/>
        </p:nvSpPr>
        <p:spPr>
          <a:xfrm>
            <a:off x="5038344" y="1280160"/>
            <a:ext cx="1965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observed step resolves to 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screen — indigo.xxx.net. Fields,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labels, click paths, navigation.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29;g3f829ad6586_0_4"/>
          <p:cNvCxnSpPr/>
          <p:nvPr/>
        </p:nvCxnSpPr>
        <p:spPr>
          <a:xfrm>
            <a:off x="6986016" y="1115568"/>
            <a:ext cx="0" cy="768000"/>
          </a:xfrm>
          <a:prstGeom prst="straightConnector1">
            <a:avLst/>
          </a:prstGeom>
          <a:noFill/>
          <a:ln cap="flat" cmpd="sng" w="9525">
            <a:solidFill>
              <a:srgbClr val="DFDCD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30" name="Google Shape;30;g3f829ad6586_0_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40880" y="115214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g3f829ad6586_0_4"/>
          <p:cNvSpPr/>
          <p:nvPr/>
        </p:nvSpPr>
        <p:spPr>
          <a:xfrm>
            <a:off x="7370064" y="1115568"/>
            <a:ext cx="19293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Automation needs a backend.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g3f829ad6586_0_4"/>
          <p:cNvSpPr/>
          <p:nvPr/>
        </p:nvSpPr>
        <p:spPr>
          <a:xfrm>
            <a:off x="7370064" y="1280160"/>
            <a:ext cx="1965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API? Which database query?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credential? Which policy?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None of it is in the observation.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" name="Google Shape;33;g3f829ad6586_0_4"/>
          <p:cNvCxnSpPr/>
          <p:nvPr/>
        </p:nvCxnSpPr>
        <p:spPr>
          <a:xfrm>
            <a:off x="9317736" y="1115568"/>
            <a:ext cx="0" cy="768000"/>
          </a:xfrm>
          <a:prstGeom prst="straightConnector1">
            <a:avLst/>
          </a:prstGeom>
          <a:noFill/>
          <a:ln cap="flat" cmpd="sng" w="9525">
            <a:solidFill>
              <a:srgbClr val="DFDCD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34" name="Google Shape;34;g3f829ad6586_0_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72600" y="115214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g3f829ad6586_0_4"/>
          <p:cNvSpPr/>
          <p:nvPr/>
        </p:nvSpPr>
        <p:spPr>
          <a:xfrm>
            <a:off x="9701784" y="1115568"/>
            <a:ext cx="19293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No registry, no contract.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g3f829ad6586_0_4"/>
          <p:cNvSpPr/>
          <p:nvPr/>
        </p:nvSpPr>
        <p:spPr>
          <a:xfrm>
            <a:off x="9701784" y="1280160"/>
            <a:ext cx="1965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Nothing tells the agent what data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tools exist behind that UI,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there is no unified way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invoke them.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g3f829ad6586_0_4"/>
          <p:cNvSpPr/>
          <p:nvPr/>
        </p:nvSpPr>
        <p:spPr>
          <a:xfrm>
            <a:off x="320040" y="2121408"/>
            <a:ext cx="5623500" cy="3767400"/>
          </a:xfrm>
          <a:prstGeom prst="roundRect">
            <a:avLst>
              <a:gd fmla="val 1456" name="adj"/>
            </a:avLst>
          </a:prstGeom>
          <a:solidFill>
            <a:srgbClr val="FFFFFF"/>
          </a:solidFill>
          <a:ln cap="flat" cmpd="sng" w="12700">
            <a:solidFill>
              <a:srgbClr val="C112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g3f829ad6586_0_4"/>
          <p:cNvSpPr/>
          <p:nvPr/>
        </p:nvSpPr>
        <p:spPr>
          <a:xfrm>
            <a:off x="1691640" y="1975104"/>
            <a:ext cx="2880300" cy="310800"/>
          </a:xfrm>
          <a:prstGeom prst="roundRect">
            <a:avLst>
              <a:gd fmla="val 14706" name="adj"/>
            </a:avLst>
          </a:prstGeom>
          <a:solidFill>
            <a:srgbClr val="C1121C"/>
          </a:solidFill>
          <a:ln cap="flat" cmpd="sng" w="9525">
            <a:solidFill>
              <a:srgbClr val="C112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g3f829ad6586_0_4"/>
          <p:cNvSpPr/>
          <p:nvPr/>
        </p:nvSpPr>
        <p:spPr>
          <a:xfrm>
            <a:off x="1691640" y="1975104"/>
            <a:ext cx="2880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CURRENT PROCESS (O2</a:t>
            </a:r>
            <a:r>
              <a:rPr b="1" lang="en-US" sz="1000">
                <a:solidFill>
                  <a:srgbClr val="FFFFFF"/>
                </a:solidFill>
              </a:rPr>
              <a:t>A</a:t>
            </a: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g3f829ad6586_0_4"/>
          <p:cNvSpPr/>
          <p:nvPr/>
        </p:nvSpPr>
        <p:spPr>
          <a:xfrm>
            <a:off x="6217920" y="2121408"/>
            <a:ext cx="5623500" cy="3767400"/>
          </a:xfrm>
          <a:prstGeom prst="roundRect">
            <a:avLst>
              <a:gd fmla="val 1456" name="adj"/>
            </a:avLst>
          </a:prstGeom>
          <a:solidFill>
            <a:srgbClr val="FFFFFF"/>
          </a:solidFill>
          <a:ln cap="flat" cmpd="sng" w="12700">
            <a:solidFill>
              <a:srgbClr val="C112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f829ad6586_0_4"/>
          <p:cNvSpPr/>
          <p:nvPr/>
        </p:nvSpPr>
        <p:spPr>
          <a:xfrm>
            <a:off x="7589520" y="1975104"/>
            <a:ext cx="2880300" cy="310800"/>
          </a:xfrm>
          <a:prstGeom prst="roundRect">
            <a:avLst>
              <a:gd fmla="val 14706" name="adj"/>
            </a:avLst>
          </a:prstGeom>
          <a:solidFill>
            <a:srgbClr val="C1121C"/>
          </a:solidFill>
          <a:ln cap="flat" cmpd="sng" w="9525">
            <a:solidFill>
              <a:srgbClr val="C112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g3f829ad6586_0_4"/>
          <p:cNvSpPr/>
          <p:nvPr/>
        </p:nvSpPr>
        <p:spPr>
          <a:xfrm>
            <a:off x="7589520" y="1975104"/>
            <a:ext cx="2880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POST SYNAPSE GATEWAY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g3f829ad6586_0_4"/>
          <p:cNvSpPr/>
          <p:nvPr/>
        </p:nvSpPr>
        <p:spPr>
          <a:xfrm>
            <a:off x="548640" y="2432304"/>
            <a:ext cx="5166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O2I output stops at a described procedure. The last mile — binding each step to 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real API or database — is manual engineering, per workflow. </a:t>
            </a:r>
            <a:r>
              <a:rPr b="1" lang="en-US" sz="9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Agent Created or not Data Aware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g3f829ad6586_0_4"/>
          <p:cNvSpPr/>
          <p:nvPr/>
        </p:nvSpPr>
        <p:spPr>
          <a:xfrm>
            <a:off x="6400800" y="2432304"/>
            <a:ext cx="5257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O2I output unchanged; Synapse Gateway adds discovery, binding, execution and governance 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onboard the system once; every workflow inherits the capabilities.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g3f829ad6586_0_4"/>
          <p:cNvSpPr/>
          <p:nvPr/>
        </p:nvSpPr>
        <p:spPr>
          <a:xfrm>
            <a:off x="502920" y="2944368"/>
            <a:ext cx="804600" cy="1755600"/>
          </a:xfrm>
          <a:prstGeom prst="roundRect">
            <a:avLst>
              <a:gd fmla="val 5682" name="adj"/>
            </a:avLst>
          </a:prstGeom>
          <a:solidFill>
            <a:srgbClr val="FFFFFF"/>
          </a:solidFill>
          <a:ln cap="flat" cmpd="sng" w="9525">
            <a:solidFill>
              <a:srgbClr val="E6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f829ad6586_0_4"/>
          <p:cNvSpPr/>
          <p:nvPr/>
        </p:nvSpPr>
        <p:spPr>
          <a:xfrm>
            <a:off x="777240" y="2816352"/>
            <a:ext cx="255900" cy="255900"/>
          </a:xfrm>
          <a:prstGeom prst="ellipse">
            <a:avLst/>
          </a:prstGeom>
          <a:solidFill>
            <a:srgbClr val="C1121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g3f829ad6586_0_4"/>
          <p:cNvSpPr/>
          <p:nvPr/>
        </p:nvSpPr>
        <p:spPr>
          <a:xfrm>
            <a:off x="777240" y="2816352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" name="Google Shape;48;g3f829ad6586_0_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808" y="316382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g3f829ad6586_0_4"/>
          <p:cNvSpPr/>
          <p:nvPr/>
        </p:nvSpPr>
        <p:spPr>
          <a:xfrm>
            <a:off x="530352" y="3547872"/>
            <a:ext cx="749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Observe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g3f829ad6586_0_4"/>
          <p:cNvSpPr/>
          <p:nvPr/>
        </p:nvSpPr>
        <p:spPr>
          <a:xfrm>
            <a:off x="557784" y="3730752"/>
            <a:ext cx="6948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4F4F4F"/>
                </a:solidFill>
                <a:latin typeface="Calibri"/>
                <a:ea typeface="Calibri"/>
                <a:cs typeface="Calibri"/>
                <a:sym typeface="Calibri"/>
              </a:rPr>
              <a:t>Clickstream + SOP captured; workflow and skills extracted.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" name="Google Shape;51;g3f829ad6586_0_4"/>
          <p:cNvCxnSpPr/>
          <p:nvPr/>
        </p:nvCxnSpPr>
        <p:spPr>
          <a:xfrm>
            <a:off x="1312164" y="3328416"/>
            <a:ext cx="82200" cy="0"/>
          </a:xfrm>
          <a:prstGeom prst="straightConnector1">
            <a:avLst/>
          </a:prstGeom>
          <a:noFill/>
          <a:ln cap="flat" cmpd="sng" w="11425">
            <a:solidFill>
              <a:srgbClr val="6E6E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" name="Google Shape;52;g3f829ad6586_0_4"/>
          <p:cNvSpPr/>
          <p:nvPr/>
        </p:nvSpPr>
        <p:spPr>
          <a:xfrm>
            <a:off x="1399032" y="2944368"/>
            <a:ext cx="804600" cy="1755600"/>
          </a:xfrm>
          <a:prstGeom prst="roundRect">
            <a:avLst>
              <a:gd fmla="val 5682" name="adj"/>
            </a:avLst>
          </a:prstGeom>
          <a:solidFill>
            <a:srgbClr val="FFFFFF"/>
          </a:solidFill>
          <a:ln cap="flat" cmpd="sng" w="9525">
            <a:solidFill>
              <a:srgbClr val="E6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g3f829ad6586_0_4"/>
          <p:cNvSpPr/>
          <p:nvPr/>
        </p:nvSpPr>
        <p:spPr>
          <a:xfrm>
            <a:off x="1673352" y="2816352"/>
            <a:ext cx="255900" cy="255900"/>
          </a:xfrm>
          <a:prstGeom prst="ellipse">
            <a:avLst/>
          </a:prstGeom>
          <a:solidFill>
            <a:srgbClr val="C1121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f829ad6586_0_4"/>
          <p:cNvSpPr/>
          <p:nvPr/>
        </p:nvSpPr>
        <p:spPr>
          <a:xfrm>
            <a:off x="1673352" y="2816352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" name="Google Shape;55;g3f829ad6586_0_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45920" y="316382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g3f829ad6586_0_4"/>
          <p:cNvSpPr/>
          <p:nvPr/>
        </p:nvSpPr>
        <p:spPr>
          <a:xfrm>
            <a:off x="1426464" y="3547872"/>
            <a:ext cx="749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Describe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3f829ad6586_0_4"/>
          <p:cNvSpPr/>
          <p:nvPr/>
        </p:nvSpPr>
        <p:spPr>
          <a:xfrm>
            <a:off x="1453896" y="3730752"/>
            <a:ext cx="6948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4F4F4F"/>
                </a:solidFill>
                <a:latin typeface="Calibri"/>
                <a:ea typeface="Calibri"/>
                <a:cs typeface="Calibri"/>
                <a:sym typeface="Calibri"/>
              </a:rPr>
              <a:t>Procedure written against UI screens and click paths.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" name="Google Shape;58;g3f829ad6586_0_4"/>
          <p:cNvCxnSpPr/>
          <p:nvPr/>
        </p:nvCxnSpPr>
        <p:spPr>
          <a:xfrm>
            <a:off x="2208276" y="3328416"/>
            <a:ext cx="82200" cy="0"/>
          </a:xfrm>
          <a:prstGeom prst="straightConnector1">
            <a:avLst/>
          </a:prstGeom>
          <a:noFill/>
          <a:ln cap="flat" cmpd="sng" w="11425">
            <a:solidFill>
              <a:srgbClr val="6E6E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9" name="Google Shape;59;g3f829ad6586_0_4"/>
          <p:cNvSpPr/>
          <p:nvPr/>
        </p:nvSpPr>
        <p:spPr>
          <a:xfrm>
            <a:off x="2295144" y="2944368"/>
            <a:ext cx="804600" cy="1755600"/>
          </a:xfrm>
          <a:prstGeom prst="roundRect">
            <a:avLst>
              <a:gd fmla="val 5682" name="adj"/>
            </a:avLst>
          </a:prstGeom>
          <a:solidFill>
            <a:srgbClr val="FFFFFF"/>
          </a:solidFill>
          <a:ln cap="flat" cmpd="sng" w="9525">
            <a:solidFill>
              <a:srgbClr val="E6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g3f829ad6586_0_4"/>
          <p:cNvSpPr/>
          <p:nvPr/>
        </p:nvSpPr>
        <p:spPr>
          <a:xfrm>
            <a:off x="2569464" y="2816352"/>
            <a:ext cx="255900" cy="255900"/>
          </a:xfrm>
          <a:prstGeom prst="ellipse">
            <a:avLst/>
          </a:prstGeom>
          <a:solidFill>
            <a:srgbClr val="C1121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3f829ad6586_0_4"/>
          <p:cNvSpPr/>
          <p:nvPr/>
        </p:nvSpPr>
        <p:spPr>
          <a:xfrm>
            <a:off x="2569464" y="2816352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" name="Google Shape;62;g3f829ad6586_0_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542032" y="316382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3f829ad6586_0_4"/>
          <p:cNvSpPr/>
          <p:nvPr/>
        </p:nvSpPr>
        <p:spPr>
          <a:xfrm>
            <a:off x="2322576" y="3547872"/>
            <a:ext cx="749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Hunt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g3f829ad6586_0_4"/>
          <p:cNvSpPr/>
          <p:nvPr/>
        </p:nvSpPr>
        <p:spPr>
          <a:xfrm>
            <a:off x="2350008" y="3730752"/>
            <a:ext cx="6948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4F4F4F"/>
                </a:solidFill>
                <a:latin typeface="Calibri"/>
                <a:ea typeface="Calibri"/>
                <a:cs typeface="Calibri"/>
                <a:sym typeface="Calibri"/>
              </a:rPr>
              <a:t>Engineer manually traces the screen back to an owning API or DB.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" name="Google Shape;65;g3f829ad6586_0_4"/>
          <p:cNvCxnSpPr/>
          <p:nvPr/>
        </p:nvCxnSpPr>
        <p:spPr>
          <a:xfrm>
            <a:off x="3104388" y="3328416"/>
            <a:ext cx="82200" cy="0"/>
          </a:xfrm>
          <a:prstGeom prst="straightConnector1">
            <a:avLst/>
          </a:prstGeom>
          <a:noFill/>
          <a:ln cap="flat" cmpd="sng" w="11425">
            <a:solidFill>
              <a:srgbClr val="6E6E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6" name="Google Shape;66;g3f829ad6586_0_4"/>
          <p:cNvSpPr/>
          <p:nvPr/>
        </p:nvSpPr>
        <p:spPr>
          <a:xfrm>
            <a:off x="3191256" y="2944368"/>
            <a:ext cx="804600" cy="1755600"/>
          </a:xfrm>
          <a:prstGeom prst="roundRect">
            <a:avLst>
              <a:gd fmla="val 5682" name="adj"/>
            </a:avLst>
          </a:prstGeom>
          <a:solidFill>
            <a:srgbClr val="FFFFFF"/>
          </a:solidFill>
          <a:ln cap="flat" cmpd="sng" w="9525">
            <a:solidFill>
              <a:srgbClr val="E6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f829ad6586_0_4"/>
          <p:cNvSpPr/>
          <p:nvPr/>
        </p:nvSpPr>
        <p:spPr>
          <a:xfrm>
            <a:off x="3465576" y="2816352"/>
            <a:ext cx="255900" cy="255900"/>
          </a:xfrm>
          <a:prstGeom prst="ellipse">
            <a:avLst/>
          </a:prstGeom>
          <a:solidFill>
            <a:srgbClr val="C1121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f829ad6586_0_4"/>
          <p:cNvSpPr/>
          <p:nvPr/>
        </p:nvSpPr>
        <p:spPr>
          <a:xfrm>
            <a:off x="3465576" y="2816352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" name="Google Shape;69;g3f829ad6586_0_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38144" y="316382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3f829ad6586_0_4"/>
          <p:cNvSpPr/>
          <p:nvPr/>
        </p:nvSpPr>
        <p:spPr>
          <a:xfrm>
            <a:off x="3218688" y="3547872"/>
            <a:ext cx="749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Wire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g3f829ad6586_0_4"/>
          <p:cNvSpPr/>
          <p:nvPr/>
        </p:nvSpPr>
        <p:spPr>
          <a:xfrm>
            <a:off x="3246120" y="3730752"/>
            <a:ext cx="6948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4F4F4F"/>
                </a:solidFill>
                <a:latin typeface="Calibri"/>
                <a:ea typeface="Calibri"/>
                <a:cs typeface="Calibri"/>
                <a:sym typeface="Calibri"/>
              </a:rPr>
              <a:t>Bespoke connectivity, auth, and credential handling built per system.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" name="Google Shape;72;g3f829ad6586_0_4"/>
          <p:cNvCxnSpPr/>
          <p:nvPr/>
        </p:nvCxnSpPr>
        <p:spPr>
          <a:xfrm>
            <a:off x="4000500" y="3328416"/>
            <a:ext cx="82200" cy="0"/>
          </a:xfrm>
          <a:prstGeom prst="straightConnector1">
            <a:avLst/>
          </a:prstGeom>
          <a:noFill/>
          <a:ln cap="flat" cmpd="sng" w="11425">
            <a:solidFill>
              <a:srgbClr val="6E6E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3" name="Google Shape;73;g3f829ad6586_0_4"/>
          <p:cNvSpPr/>
          <p:nvPr/>
        </p:nvSpPr>
        <p:spPr>
          <a:xfrm>
            <a:off x="4087368" y="2944368"/>
            <a:ext cx="804600" cy="1755600"/>
          </a:xfrm>
          <a:prstGeom prst="roundRect">
            <a:avLst>
              <a:gd fmla="val 5682" name="adj"/>
            </a:avLst>
          </a:prstGeom>
          <a:solidFill>
            <a:srgbClr val="FFFFFF"/>
          </a:solidFill>
          <a:ln cap="flat" cmpd="sng" w="9525">
            <a:solidFill>
              <a:srgbClr val="E6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f829ad6586_0_4"/>
          <p:cNvSpPr/>
          <p:nvPr/>
        </p:nvSpPr>
        <p:spPr>
          <a:xfrm>
            <a:off x="4361688" y="2816352"/>
            <a:ext cx="255900" cy="255900"/>
          </a:xfrm>
          <a:prstGeom prst="ellipse">
            <a:avLst/>
          </a:prstGeom>
          <a:solidFill>
            <a:srgbClr val="C1121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3f829ad6586_0_4"/>
          <p:cNvSpPr/>
          <p:nvPr/>
        </p:nvSpPr>
        <p:spPr>
          <a:xfrm>
            <a:off x="4361688" y="2816352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" name="Google Shape;76;g3f829ad6586_0_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334256" y="316382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g3f829ad6586_0_4"/>
          <p:cNvSpPr/>
          <p:nvPr/>
        </p:nvSpPr>
        <p:spPr>
          <a:xfrm>
            <a:off x="4114800" y="3547872"/>
            <a:ext cx="749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Retrofit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governance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3f829ad6586_0_4"/>
          <p:cNvSpPr/>
          <p:nvPr/>
        </p:nvSpPr>
        <p:spPr>
          <a:xfrm>
            <a:off x="4142232" y="3858768"/>
            <a:ext cx="6948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4F4F4F"/>
                </a:solidFill>
                <a:latin typeface="Calibri"/>
                <a:ea typeface="Calibri"/>
                <a:cs typeface="Calibri"/>
                <a:sym typeface="Calibri"/>
              </a:rPr>
              <a:t>Access control, capping, and audit bolted on per agent.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" name="Google Shape;79;g3f829ad6586_0_4"/>
          <p:cNvCxnSpPr/>
          <p:nvPr/>
        </p:nvCxnSpPr>
        <p:spPr>
          <a:xfrm>
            <a:off x="4896612" y="3328416"/>
            <a:ext cx="82200" cy="0"/>
          </a:xfrm>
          <a:prstGeom prst="straightConnector1">
            <a:avLst/>
          </a:prstGeom>
          <a:noFill/>
          <a:ln cap="flat" cmpd="sng" w="11425">
            <a:solidFill>
              <a:srgbClr val="6E6E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0" name="Google Shape;80;g3f829ad6586_0_4"/>
          <p:cNvSpPr/>
          <p:nvPr/>
        </p:nvSpPr>
        <p:spPr>
          <a:xfrm>
            <a:off x="4983480" y="2944368"/>
            <a:ext cx="804600" cy="1755600"/>
          </a:xfrm>
          <a:prstGeom prst="roundRect">
            <a:avLst>
              <a:gd fmla="val 5682" name="adj"/>
            </a:avLst>
          </a:prstGeom>
          <a:solidFill>
            <a:srgbClr val="FFFFFF"/>
          </a:solidFill>
          <a:ln cap="flat" cmpd="sng" w="9525">
            <a:solidFill>
              <a:srgbClr val="E6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f829ad6586_0_4"/>
          <p:cNvSpPr/>
          <p:nvPr/>
        </p:nvSpPr>
        <p:spPr>
          <a:xfrm>
            <a:off x="5257800" y="2816352"/>
            <a:ext cx="255900" cy="255900"/>
          </a:xfrm>
          <a:prstGeom prst="ellipse">
            <a:avLst/>
          </a:prstGeom>
          <a:solidFill>
            <a:srgbClr val="C1121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f829ad6586_0_4"/>
          <p:cNvSpPr/>
          <p:nvPr/>
        </p:nvSpPr>
        <p:spPr>
          <a:xfrm>
            <a:off x="5257800" y="2816352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3" name="Google Shape;83;g3f829ad6586_0_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230368" y="316382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g3f829ad6586_0_4"/>
          <p:cNvSpPr/>
          <p:nvPr/>
        </p:nvSpPr>
        <p:spPr>
          <a:xfrm>
            <a:off x="5010912" y="3547872"/>
            <a:ext cx="749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Repeat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f829ad6586_0_4"/>
          <p:cNvSpPr/>
          <p:nvPr/>
        </p:nvSpPr>
        <p:spPr>
          <a:xfrm>
            <a:off x="5038344" y="3730752"/>
            <a:ext cx="6948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4F4F4F"/>
                </a:solidFill>
                <a:latin typeface="Calibri"/>
                <a:ea typeface="Calibri"/>
                <a:cs typeface="Calibri"/>
                <a:sym typeface="Calibri"/>
              </a:rPr>
              <a:t>Next workflow restarts discovery, credentials, and connectivity from zero.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f829ad6586_0_4"/>
          <p:cNvSpPr/>
          <p:nvPr/>
        </p:nvSpPr>
        <p:spPr>
          <a:xfrm>
            <a:off x="6400800" y="2944368"/>
            <a:ext cx="978300" cy="1755600"/>
          </a:xfrm>
          <a:prstGeom prst="roundRect">
            <a:avLst>
              <a:gd fmla="val 4673" name="adj"/>
            </a:avLst>
          </a:prstGeom>
          <a:solidFill>
            <a:srgbClr val="FFFFFF"/>
          </a:solidFill>
          <a:ln cap="flat" cmpd="sng" w="9525">
            <a:solidFill>
              <a:srgbClr val="E6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f829ad6586_0_4"/>
          <p:cNvSpPr/>
          <p:nvPr/>
        </p:nvSpPr>
        <p:spPr>
          <a:xfrm>
            <a:off x="6761988" y="2816352"/>
            <a:ext cx="255900" cy="255900"/>
          </a:xfrm>
          <a:prstGeom prst="ellipse">
            <a:avLst/>
          </a:prstGeom>
          <a:solidFill>
            <a:srgbClr val="C1121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f829ad6586_0_4"/>
          <p:cNvSpPr/>
          <p:nvPr/>
        </p:nvSpPr>
        <p:spPr>
          <a:xfrm>
            <a:off x="6761988" y="2816352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9" name="Google Shape;89;g3f829ad6586_0_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4556" y="316382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3f829ad6586_0_4"/>
          <p:cNvSpPr/>
          <p:nvPr/>
        </p:nvSpPr>
        <p:spPr>
          <a:xfrm>
            <a:off x="6428232" y="3547872"/>
            <a:ext cx="923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Observe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f829ad6586_0_4"/>
          <p:cNvSpPr/>
          <p:nvPr/>
        </p:nvSpPr>
        <p:spPr>
          <a:xfrm>
            <a:off x="6455664" y="3730752"/>
            <a:ext cx="8688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4F4F4F"/>
                </a:solidFill>
                <a:latin typeface="Calibri"/>
                <a:ea typeface="Calibri"/>
                <a:cs typeface="Calibri"/>
                <a:sym typeface="Calibri"/>
              </a:rPr>
              <a:t>O2I output unchanged — workflow and skills as-is.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g3f829ad6586_0_4"/>
          <p:cNvCxnSpPr/>
          <p:nvPr/>
        </p:nvCxnSpPr>
        <p:spPr>
          <a:xfrm>
            <a:off x="7383780" y="3328416"/>
            <a:ext cx="82200" cy="0"/>
          </a:xfrm>
          <a:prstGeom prst="straightConnector1">
            <a:avLst/>
          </a:prstGeom>
          <a:noFill/>
          <a:ln cap="flat" cmpd="sng" w="11425">
            <a:solidFill>
              <a:srgbClr val="6E6E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3" name="Google Shape;93;g3f829ad6586_0_4"/>
          <p:cNvSpPr/>
          <p:nvPr/>
        </p:nvSpPr>
        <p:spPr>
          <a:xfrm>
            <a:off x="7470648" y="2944368"/>
            <a:ext cx="978300" cy="1755600"/>
          </a:xfrm>
          <a:prstGeom prst="roundRect">
            <a:avLst>
              <a:gd fmla="val 4673" name="adj"/>
            </a:avLst>
          </a:prstGeom>
          <a:solidFill>
            <a:srgbClr val="FFFFFF"/>
          </a:solidFill>
          <a:ln cap="flat" cmpd="sng" w="9525">
            <a:solidFill>
              <a:srgbClr val="E6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f829ad6586_0_4"/>
          <p:cNvSpPr/>
          <p:nvPr/>
        </p:nvSpPr>
        <p:spPr>
          <a:xfrm>
            <a:off x="7831836" y="2816352"/>
            <a:ext cx="255900" cy="255900"/>
          </a:xfrm>
          <a:prstGeom prst="ellipse">
            <a:avLst/>
          </a:prstGeom>
          <a:solidFill>
            <a:srgbClr val="C1121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f829ad6586_0_4"/>
          <p:cNvSpPr/>
          <p:nvPr/>
        </p:nvSpPr>
        <p:spPr>
          <a:xfrm>
            <a:off x="7831836" y="2816352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6" name="Google Shape;96;g3f829ad6586_0_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04404" y="316382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f829ad6586_0_4"/>
          <p:cNvSpPr/>
          <p:nvPr/>
        </p:nvSpPr>
        <p:spPr>
          <a:xfrm>
            <a:off x="7498080" y="3547872"/>
            <a:ext cx="923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Discover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f829ad6586_0_4"/>
          <p:cNvSpPr/>
          <p:nvPr/>
        </p:nvSpPr>
        <p:spPr>
          <a:xfrm>
            <a:off x="7525512" y="3730752"/>
            <a:ext cx="8688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4F4F4F"/>
                </a:solidFill>
                <a:latin typeface="Calibri"/>
                <a:ea typeface="Calibri"/>
                <a:cs typeface="Calibri"/>
                <a:sym typeface="Calibri"/>
              </a:rPr>
              <a:t>synapse-tools-ddc resolves the UI step to registered DB tools, API tools, and the data dictionary.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g3f829ad6586_0_4"/>
          <p:cNvCxnSpPr/>
          <p:nvPr/>
        </p:nvCxnSpPr>
        <p:spPr>
          <a:xfrm>
            <a:off x="8453628" y="3328416"/>
            <a:ext cx="82200" cy="0"/>
          </a:xfrm>
          <a:prstGeom prst="straightConnector1">
            <a:avLst/>
          </a:prstGeom>
          <a:noFill/>
          <a:ln cap="flat" cmpd="sng" w="11425">
            <a:solidFill>
              <a:srgbClr val="6E6E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0" name="Google Shape;100;g3f829ad6586_0_4"/>
          <p:cNvSpPr/>
          <p:nvPr/>
        </p:nvSpPr>
        <p:spPr>
          <a:xfrm>
            <a:off x="8540496" y="2944368"/>
            <a:ext cx="978300" cy="1755600"/>
          </a:xfrm>
          <a:prstGeom prst="roundRect">
            <a:avLst>
              <a:gd fmla="val 4673" name="adj"/>
            </a:avLst>
          </a:prstGeom>
          <a:solidFill>
            <a:srgbClr val="FFFFFF"/>
          </a:solidFill>
          <a:ln cap="flat" cmpd="sng" w="9525">
            <a:solidFill>
              <a:srgbClr val="E6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f829ad6586_0_4"/>
          <p:cNvSpPr/>
          <p:nvPr/>
        </p:nvSpPr>
        <p:spPr>
          <a:xfrm>
            <a:off x="8901684" y="2816352"/>
            <a:ext cx="255900" cy="255900"/>
          </a:xfrm>
          <a:prstGeom prst="ellipse">
            <a:avLst/>
          </a:prstGeom>
          <a:solidFill>
            <a:srgbClr val="C1121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f829ad6586_0_4"/>
          <p:cNvSpPr/>
          <p:nvPr/>
        </p:nvSpPr>
        <p:spPr>
          <a:xfrm>
            <a:off x="8901684" y="2816352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3" name="Google Shape;103;g3f829ad6586_0_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874252" y="316382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3f829ad6586_0_4"/>
          <p:cNvSpPr/>
          <p:nvPr/>
        </p:nvSpPr>
        <p:spPr>
          <a:xfrm>
            <a:off x="8567928" y="3547872"/>
            <a:ext cx="923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Bind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f829ad6586_0_4"/>
          <p:cNvSpPr/>
          <p:nvPr/>
        </p:nvSpPr>
        <p:spPr>
          <a:xfrm>
            <a:off x="8595360" y="3730752"/>
            <a:ext cx="8688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4F4F4F"/>
                </a:solidFill>
                <a:latin typeface="Calibri"/>
                <a:ea typeface="Calibri"/>
                <a:cs typeface="Calibri"/>
                <a:sym typeface="Calibri"/>
              </a:rPr>
              <a:t>Agent selects tools on semantic metadata — field meanings, domains, relationships, PII flags.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106;g3f829ad6586_0_4"/>
          <p:cNvCxnSpPr/>
          <p:nvPr/>
        </p:nvCxnSpPr>
        <p:spPr>
          <a:xfrm>
            <a:off x="9523476" y="3328416"/>
            <a:ext cx="82200" cy="0"/>
          </a:xfrm>
          <a:prstGeom prst="straightConnector1">
            <a:avLst/>
          </a:prstGeom>
          <a:noFill/>
          <a:ln cap="flat" cmpd="sng" w="11425">
            <a:solidFill>
              <a:srgbClr val="6E6E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7" name="Google Shape;107;g3f829ad6586_0_4"/>
          <p:cNvSpPr/>
          <p:nvPr/>
        </p:nvSpPr>
        <p:spPr>
          <a:xfrm>
            <a:off x="9610344" y="2944368"/>
            <a:ext cx="978300" cy="1755600"/>
          </a:xfrm>
          <a:prstGeom prst="roundRect">
            <a:avLst>
              <a:gd fmla="val 4673" name="adj"/>
            </a:avLst>
          </a:prstGeom>
          <a:solidFill>
            <a:srgbClr val="FFFFFF"/>
          </a:solidFill>
          <a:ln cap="flat" cmpd="sng" w="9525">
            <a:solidFill>
              <a:srgbClr val="E6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f829ad6586_0_4"/>
          <p:cNvSpPr/>
          <p:nvPr/>
        </p:nvSpPr>
        <p:spPr>
          <a:xfrm>
            <a:off x="9971532" y="2816352"/>
            <a:ext cx="255900" cy="255900"/>
          </a:xfrm>
          <a:prstGeom prst="ellipse">
            <a:avLst/>
          </a:prstGeom>
          <a:solidFill>
            <a:srgbClr val="C1121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f829ad6586_0_4"/>
          <p:cNvSpPr/>
          <p:nvPr/>
        </p:nvSpPr>
        <p:spPr>
          <a:xfrm>
            <a:off x="9971532" y="2816352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" name="Google Shape;110;g3f829ad6586_0_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944100" y="316382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f829ad6586_0_4"/>
          <p:cNvSpPr/>
          <p:nvPr/>
        </p:nvSpPr>
        <p:spPr>
          <a:xfrm>
            <a:off x="9637776" y="3547872"/>
            <a:ext cx="923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Execute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f829ad6586_0_4"/>
          <p:cNvSpPr/>
          <p:nvPr/>
        </p:nvSpPr>
        <p:spPr>
          <a:xfrm>
            <a:off x="9665208" y="3730752"/>
            <a:ext cx="8688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4F4F4F"/>
                </a:solidFill>
                <a:latin typeface="Calibri"/>
                <a:ea typeface="Calibri"/>
                <a:cs typeface="Calibri"/>
                <a:sym typeface="Calibri"/>
              </a:rPr>
              <a:t>synapse-datagateway runs DB and API calls through one contract; Vault resolves credentials.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g3f829ad6586_0_4"/>
          <p:cNvCxnSpPr/>
          <p:nvPr/>
        </p:nvCxnSpPr>
        <p:spPr>
          <a:xfrm>
            <a:off x="10593324" y="3328416"/>
            <a:ext cx="82200" cy="0"/>
          </a:xfrm>
          <a:prstGeom prst="straightConnector1">
            <a:avLst/>
          </a:prstGeom>
          <a:noFill/>
          <a:ln cap="flat" cmpd="sng" w="11425">
            <a:solidFill>
              <a:srgbClr val="6E6E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4" name="Google Shape;114;g3f829ad6586_0_4"/>
          <p:cNvSpPr/>
          <p:nvPr/>
        </p:nvSpPr>
        <p:spPr>
          <a:xfrm>
            <a:off x="10680192" y="2944368"/>
            <a:ext cx="978300" cy="1755600"/>
          </a:xfrm>
          <a:prstGeom prst="roundRect">
            <a:avLst>
              <a:gd fmla="val 4673" name="adj"/>
            </a:avLst>
          </a:prstGeom>
          <a:solidFill>
            <a:srgbClr val="FFFFFF"/>
          </a:solidFill>
          <a:ln cap="flat" cmpd="sng" w="9525">
            <a:solidFill>
              <a:srgbClr val="E6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f829ad6586_0_4"/>
          <p:cNvSpPr/>
          <p:nvPr/>
        </p:nvSpPr>
        <p:spPr>
          <a:xfrm>
            <a:off x="11041380" y="2816352"/>
            <a:ext cx="255900" cy="255900"/>
          </a:xfrm>
          <a:prstGeom prst="ellipse">
            <a:avLst/>
          </a:prstGeom>
          <a:solidFill>
            <a:srgbClr val="C1121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f829ad6586_0_4"/>
          <p:cNvSpPr/>
          <p:nvPr/>
        </p:nvSpPr>
        <p:spPr>
          <a:xfrm>
            <a:off x="11041380" y="2816352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7" name="Google Shape;117;g3f829ad6586_0_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013948" y="316382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f829ad6586_0_4"/>
          <p:cNvSpPr/>
          <p:nvPr/>
        </p:nvSpPr>
        <p:spPr>
          <a:xfrm>
            <a:off x="10707624" y="3547872"/>
            <a:ext cx="923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Govern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f829ad6586_0_4"/>
          <p:cNvSpPr/>
          <p:nvPr/>
        </p:nvSpPr>
        <p:spPr>
          <a:xfrm>
            <a:off x="10735056" y="3730752"/>
            <a:ext cx="8688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4F4F4F"/>
                </a:solidFill>
                <a:latin typeface="Calibri"/>
                <a:ea typeface="Calibri"/>
                <a:cs typeface="Calibri"/>
                <a:sym typeface="Calibri"/>
              </a:rPr>
              <a:t>ABAC, policy gates, rate limits, result capping, and audit lineage inherited from the gateway.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f829ad6586_0_4"/>
          <p:cNvSpPr/>
          <p:nvPr/>
        </p:nvSpPr>
        <p:spPr>
          <a:xfrm>
            <a:off x="484632" y="4919472"/>
            <a:ext cx="5294400" cy="786300"/>
          </a:xfrm>
          <a:prstGeom prst="roundRect">
            <a:avLst>
              <a:gd fmla="val 5814" name="adj"/>
            </a:avLst>
          </a:prstGeom>
          <a:solidFill>
            <a:srgbClr val="FDF1F1"/>
          </a:solidFill>
          <a:ln cap="flat" cmpd="sng" w="9525">
            <a:solidFill>
              <a:srgbClr val="F3C9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f829ad6586_0_4"/>
          <p:cNvSpPr/>
          <p:nvPr/>
        </p:nvSpPr>
        <p:spPr>
          <a:xfrm>
            <a:off x="630936" y="5093208"/>
            <a:ext cx="438900" cy="438900"/>
          </a:xfrm>
          <a:prstGeom prst="ellipse">
            <a:avLst/>
          </a:prstGeom>
          <a:solidFill>
            <a:srgbClr val="C1121C"/>
          </a:solidFill>
          <a:ln cap="flat" cmpd="sng" w="12700">
            <a:solidFill>
              <a:srgbClr val="C112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2" name="Google Shape;122;g3f829ad6586_0_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31520" y="519379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f829ad6586_0_4"/>
          <p:cNvSpPr/>
          <p:nvPr/>
        </p:nvSpPr>
        <p:spPr>
          <a:xfrm>
            <a:off x="1161288" y="5065776"/>
            <a:ext cx="45264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Agents are designed, not deployed or run at scale.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Automation effort scales linearly with workflow count.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f829ad6586_0_4"/>
          <p:cNvSpPr/>
          <p:nvPr/>
        </p:nvSpPr>
        <p:spPr>
          <a:xfrm>
            <a:off x="6382512" y="4919472"/>
            <a:ext cx="5294400" cy="786300"/>
          </a:xfrm>
          <a:prstGeom prst="roundRect">
            <a:avLst>
              <a:gd fmla="val 5814" name="adj"/>
            </a:avLst>
          </a:prstGeom>
          <a:solidFill>
            <a:srgbClr val="EFF6EE"/>
          </a:solidFill>
          <a:ln cap="flat" cmpd="sng" w="9525">
            <a:solidFill>
              <a:srgbClr val="C9E0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f829ad6586_0_4"/>
          <p:cNvSpPr/>
          <p:nvPr/>
        </p:nvSpPr>
        <p:spPr>
          <a:xfrm>
            <a:off x="6528816" y="5093208"/>
            <a:ext cx="438900" cy="438900"/>
          </a:xfrm>
          <a:prstGeom prst="ellipse">
            <a:avLst/>
          </a:prstGeom>
          <a:solidFill>
            <a:srgbClr val="C1121C"/>
          </a:solidFill>
          <a:ln cap="flat" cmpd="sng" w="12700">
            <a:solidFill>
              <a:srgbClr val="C112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6" name="Google Shape;126;g3f829ad6586_0_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629400" y="519379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3f829ad6586_0_4"/>
          <p:cNvSpPr/>
          <p:nvPr/>
        </p:nvSpPr>
        <p:spPr>
          <a:xfrm>
            <a:off x="7059168" y="5010912"/>
            <a:ext cx="452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294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O2I tells the agent what to do.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294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Synapse and Agent Execution tells it what exists and how to execute it — turning observed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294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procedures into governed, executable agents.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f829ad6586_0_4"/>
          <p:cNvSpPr/>
          <p:nvPr/>
        </p:nvSpPr>
        <p:spPr>
          <a:xfrm>
            <a:off x="0" y="6053328"/>
            <a:ext cx="12189000" cy="804600"/>
          </a:xfrm>
          <a:prstGeom prst="rect">
            <a:avLst/>
          </a:prstGeom>
          <a:solidFill>
            <a:srgbClr val="C1121C"/>
          </a:solidFill>
          <a:ln cap="flat" cmpd="sng" w="12700">
            <a:solidFill>
              <a:srgbClr val="C112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9" name="Google Shape;129;g3f829ad6586_0_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58368" y="6327648"/>
            <a:ext cx="274320" cy="2743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0" name="Google Shape;130;g3f829ad6586_0_4"/>
          <p:cNvCxnSpPr/>
          <p:nvPr/>
        </p:nvCxnSpPr>
        <p:spPr>
          <a:xfrm>
            <a:off x="1225296" y="6272784"/>
            <a:ext cx="0" cy="384000"/>
          </a:xfrm>
          <a:prstGeom prst="straightConnector1">
            <a:avLst/>
          </a:prstGeom>
          <a:noFill/>
          <a:ln cap="flat" cmpd="sng" w="12700">
            <a:solidFill>
              <a:srgbClr val="E88A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g3f829ad6586_0_4"/>
          <p:cNvSpPr/>
          <p:nvPr/>
        </p:nvSpPr>
        <p:spPr>
          <a:xfrm>
            <a:off x="1408176" y="6336792"/>
            <a:ext cx="9601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Outcome: 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observation-grade procedures to governed, executable agents — at enterprise scale.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"/>
          <p:cNvSpPr/>
          <p:nvPr/>
        </p:nvSpPr>
        <p:spPr>
          <a:xfrm>
            <a:off x="1531620" y="9144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C1121C"/>
                </a:solidFill>
                <a:latin typeface="Arial"/>
                <a:ea typeface="Arial"/>
                <a:cs typeface="Arial"/>
                <a:sym typeface="Arial"/>
              </a:rPr>
              <a:t>DISCOVERY &amp; REGISTRATION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p1"/>
          <p:cNvCxnSpPr/>
          <p:nvPr/>
        </p:nvCxnSpPr>
        <p:spPr>
          <a:xfrm>
            <a:off x="274320" y="512064"/>
            <a:ext cx="6172200" cy="0"/>
          </a:xfrm>
          <a:prstGeom prst="straightConnector1">
            <a:avLst/>
          </a:prstGeom>
          <a:noFill/>
          <a:ln cap="flat" cmpd="sng" w="12700">
            <a:solidFill>
              <a:srgbClr val="C112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p1"/>
          <p:cNvCxnSpPr/>
          <p:nvPr/>
        </p:nvCxnSpPr>
        <p:spPr>
          <a:xfrm>
            <a:off x="274320" y="512064"/>
            <a:ext cx="0" cy="91440"/>
          </a:xfrm>
          <a:prstGeom prst="straightConnector1">
            <a:avLst/>
          </a:prstGeom>
          <a:noFill/>
          <a:ln cap="flat" cmpd="sng" w="12700">
            <a:solidFill>
              <a:srgbClr val="C112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" name="Google Shape;140;p1"/>
          <p:cNvCxnSpPr/>
          <p:nvPr/>
        </p:nvCxnSpPr>
        <p:spPr>
          <a:xfrm>
            <a:off x="6446520" y="512064"/>
            <a:ext cx="0" cy="91440"/>
          </a:xfrm>
          <a:prstGeom prst="straightConnector1">
            <a:avLst/>
          </a:prstGeom>
          <a:noFill/>
          <a:ln cap="flat" cmpd="sng" w="12700">
            <a:solidFill>
              <a:srgbClr val="C112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p1"/>
          <p:cNvSpPr/>
          <p:nvPr/>
        </p:nvSpPr>
        <p:spPr>
          <a:xfrm>
            <a:off x="6409944" y="475488"/>
            <a:ext cx="73152" cy="73152"/>
          </a:xfrm>
          <a:prstGeom prst="ellipse">
            <a:avLst/>
          </a:prstGeom>
          <a:solidFill>
            <a:srgbClr val="C1121C"/>
          </a:solidFill>
          <a:ln cap="flat" cmpd="sng" w="12700">
            <a:solidFill>
              <a:srgbClr val="C112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"/>
          <p:cNvSpPr/>
          <p:nvPr/>
        </p:nvSpPr>
        <p:spPr>
          <a:xfrm>
            <a:off x="5623560" y="9144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C1121C"/>
                </a:solidFill>
                <a:latin typeface="Arial"/>
                <a:ea typeface="Arial"/>
                <a:cs typeface="Arial"/>
                <a:sym typeface="Arial"/>
              </a:rPr>
              <a:t>AGENT GENERATION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"/>
          <p:cNvSpPr/>
          <p:nvPr/>
        </p:nvSpPr>
        <p:spPr>
          <a:xfrm>
            <a:off x="5623560" y="28346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(Owned by Another POD Team)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1"/>
          <p:cNvCxnSpPr/>
          <p:nvPr/>
        </p:nvCxnSpPr>
        <p:spPr>
          <a:xfrm>
            <a:off x="6583680" y="512064"/>
            <a:ext cx="1737360" cy="0"/>
          </a:xfrm>
          <a:prstGeom prst="straightConnector1">
            <a:avLst/>
          </a:prstGeom>
          <a:noFill/>
          <a:ln cap="flat" cmpd="sng" w="12700">
            <a:solidFill>
              <a:srgbClr val="C112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" name="Google Shape;145;p1"/>
          <p:cNvCxnSpPr/>
          <p:nvPr/>
        </p:nvCxnSpPr>
        <p:spPr>
          <a:xfrm>
            <a:off x="6583680" y="512064"/>
            <a:ext cx="0" cy="91440"/>
          </a:xfrm>
          <a:prstGeom prst="straightConnector1">
            <a:avLst/>
          </a:prstGeom>
          <a:noFill/>
          <a:ln cap="flat" cmpd="sng" w="12700">
            <a:solidFill>
              <a:srgbClr val="C112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" name="Google Shape;146;p1"/>
          <p:cNvCxnSpPr/>
          <p:nvPr/>
        </p:nvCxnSpPr>
        <p:spPr>
          <a:xfrm>
            <a:off x="8321040" y="512064"/>
            <a:ext cx="0" cy="91440"/>
          </a:xfrm>
          <a:prstGeom prst="straightConnector1">
            <a:avLst/>
          </a:prstGeom>
          <a:noFill/>
          <a:ln cap="flat" cmpd="sng" w="12700">
            <a:solidFill>
              <a:srgbClr val="C112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1"/>
          <p:cNvSpPr/>
          <p:nvPr/>
        </p:nvSpPr>
        <p:spPr>
          <a:xfrm>
            <a:off x="8284464" y="475488"/>
            <a:ext cx="73152" cy="73152"/>
          </a:xfrm>
          <a:prstGeom prst="ellipse">
            <a:avLst/>
          </a:prstGeom>
          <a:solidFill>
            <a:srgbClr val="C1121C"/>
          </a:solidFill>
          <a:ln cap="flat" cmpd="sng" w="12700">
            <a:solidFill>
              <a:srgbClr val="C112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"/>
          <p:cNvSpPr/>
          <p:nvPr/>
        </p:nvSpPr>
        <p:spPr>
          <a:xfrm>
            <a:off x="6547104" y="475488"/>
            <a:ext cx="73152" cy="73152"/>
          </a:xfrm>
          <a:prstGeom prst="ellipse">
            <a:avLst/>
          </a:prstGeom>
          <a:solidFill>
            <a:srgbClr val="C1121C"/>
          </a:solidFill>
          <a:ln cap="flat" cmpd="sng" w="12700">
            <a:solidFill>
              <a:srgbClr val="C112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"/>
          <p:cNvSpPr/>
          <p:nvPr/>
        </p:nvSpPr>
        <p:spPr>
          <a:xfrm>
            <a:off x="8343900" y="9144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C1121C"/>
                </a:solidFill>
                <a:latin typeface="Arial"/>
                <a:ea typeface="Arial"/>
                <a:cs typeface="Arial"/>
                <a:sym typeface="Arial"/>
              </a:rPr>
              <a:t>GOVERNED EXECUTION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1"/>
          <p:cNvCxnSpPr/>
          <p:nvPr/>
        </p:nvCxnSpPr>
        <p:spPr>
          <a:xfrm>
            <a:off x="8458200" y="512064"/>
            <a:ext cx="3429000" cy="0"/>
          </a:xfrm>
          <a:prstGeom prst="straightConnector1">
            <a:avLst/>
          </a:prstGeom>
          <a:noFill/>
          <a:ln cap="flat" cmpd="sng" w="12700">
            <a:solidFill>
              <a:srgbClr val="C112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p1"/>
          <p:cNvCxnSpPr/>
          <p:nvPr/>
        </p:nvCxnSpPr>
        <p:spPr>
          <a:xfrm>
            <a:off x="8458200" y="512064"/>
            <a:ext cx="0" cy="91440"/>
          </a:xfrm>
          <a:prstGeom prst="straightConnector1">
            <a:avLst/>
          </a:prstGeom>
          <a:noFill/>
          <a:ln cap="flat" cmpd="sng" w="12700">
            <a:solidFill>
              <a:srgbClr val="C1121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1"/>
          <p:cNvCxnSpPr/>
          <p:nvPr/>
        </p:nvCxnSpPr>
        <p:spPr>
          <a:xfrm>
            <a:off x="11887200" y="512064"/>
            <a:ext cx="0" cy="91440"/>
          </a:xfrm>
          <a:prstGeom prst="straightConnector1">
            <a:avLst/>
          </a:prstGeom>
          <a:noFill/>
          <a:ln cap="flat" cmpd="sng" w="12700">
            <a:solidFill>
              <a:srgbClr val="C112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1"/>
          <p:cNvSpPr/>
          <p:nvPr/>
        </p:nvSpPr>
        <p:spPr>
          <a:xfrm>
            <a:off x="8421624" y="475488"/>
            <a:ext cx="73152" cy="73152"/>
          </a:xfrm>
          <a:prstGeom prst="ellipse">
            <a:avLst/>
          </a:prstGeom>
          <a:solidFill>
            <a:srgbClr val="C1121C"/>
          </a:solidFill>
          <a:ln cap="flat" cmpd="sng" w="12700">
            <a:solidFill>
              <a:srgbClr val="C112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"/>
          <p:cNvSpPr/>
          <p:nvPr/>
        </p:nvSpPr>
        <p:spPr>
          <a:xfrm>
            <a:off x="274320" y="658368"/>
            <a:ext cx="1234440" cy="260604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"/>
          <p:cNvSpPr/>
          <p:nvPr/>
        </p:nvSpPr>
        <p:spPr>
          <a:xfrm>
            <a:off x="384048" y="749808"/>
            <a:ext cx="256032" cy="256032"/>
          </a:xfrm>
          <a:prstGeom prst="ellipse">
            <a:avLst/>
          </a:prstGeom>
          <a:solidFill>
            <a:srgbClr val="C1121C"/>
          </a:solidFill>
          <a:ln cap="flat" cmpd="sng" w="12700">
            <a:solidFill>
              <a:srgbClr val="C112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"/>
          <p:cNvSpPr/>
          <p:nvPr/>
        </p:nvSpPr>
        <p:spPr>
          <a:xfrm>
            <a:off x="384048" y="74980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"/>
          <p:cNvSpPr/>
          <p:nvPr/>
        </p:nvSpPr>
        <p:spPr>
          <a:xfrm>
            <a:off x="676656" y="768096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O2I OUTPUT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8" name="Google Shape;15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796" y="1078992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"/>
          <p:cNvSpPr/>
          <p:nvPr/>
        </p:nvSpPr>
        <p:spPr>
          <a:xfrm>
            <a:off x="329184" y="1664208"/>
            <a:ext cx="11247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Video clickstream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 SOP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1"/>
          <p:cNvCxnSpPr/>
          <p:nvPr/>
        </p:nvCxnSpPr>
        <p:spPr>
          <a:xfrm>
            <a:off x="891540" y="1993392"/>
            <a:ext cx="0" cy="201168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1" name="Google Shape;161;p1"/>
          <p:cNvSpPr/>
          <p:nvPr/>
        </p:nvSpPr>
        <p:spPr>
          <a:xfrm>
            <a:off x="329184" y="2267712"/>
            <a:ext cx="1124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Workflow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information &amp; skills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(structured procedure)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"/>
          <p:cNvSpPr/>
          <p:nvPr/>
        </p:nvSpPr>
        <p:spPr>
          <a:xfrm>
            <a:off x="1691640" y="658368"/>
            <a:ext cx="1463040" cy="1600200"/>
          </a:xfrm>
          <a:prstGeom prst="roundRect">
            <a:avLst>
              <a:gd fmla="val 3750" name="adj"/>
            </a:avLst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"/>
          <p:cNvSpPr/>
          <p:nvPr/>
        </p:nvSpPr>
        <p:spPr>
          <a:xfrm>
            <a:off x="1801368" y="749808"/>
            <a:ext cx="256032" cy="256032"/>
          </a:xfrm>
          <a:prstGeom prst="ellipse">
            <a:avLst/>
          </a:prstGeom>
          <a:solidFill>
            <a:srgbClr val="C1121C"/>
          </a:solidFill>
          <a:ln cap="flat" cmpd="sng" w="12700">
            <a:solidFill>
              <a:srgbClr val="C112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"/>
          <p:cNvSpPr/>
          <p:nvPr/>
        </p:nvSpPr>
        <p:spPr>
          <a:xfrm>
            <a:off x="1801368" y="74980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"/>
          <p:cNvSpPr/>
          <p:nvPr/>
        </p:nvSpPr>
        <p:spPr>
          <a:xfrm>
            <a:off x="2093976" y="768096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synapse-ui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6" name="Google Shape;16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3704" y="104241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"/>
          <p:cNvSpPr/>
          <p:nvPr/>
        </p:nvSpPr>
        <p:spPr>
          <a:xfrm>
            <a:off x="1737360" y="155448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Operator console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Attribute-based RBAC,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project-scoped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"/>
          <p:cNvSpPr/>
          <p:nvPr/>
        </p:nvSpPr>
        <p:spPr>
          <a:xfrm>
            <a:off x="3291840" y="658368"/>
            <a:ext cx="1463040" cy="1600200"/>
          </a:xfrm>
          <a:prstGeom prst="roundRect">
            <a:avLst>
              <a:gd fmla="val 3750" name="adj"/>
            </a:avLst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"/>
          <p:cNvSpPr/>
          <p:nvPr/>
        </p:nvSpPr>
        <p:spPr>
          <a:xfrm>
            <a:off x="3401568" y="749808"/>
            <a:ext cx="256032" cy="256032"/>
          </a:xfrm>
          <a:prstGeom prst="ellipse">
            <a:avLst/>
          </a:prstGeom>
          <a:solidFill>
            <a:srgbClr val="C1121C"/>
          </a:solidFill>
          <a:ln cap="flat" cmpd="sng" w="12700">
            <a:solidFill>
              <a:srgbClr val="C112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"/>
          <p:cNvSpPr/>
          <p:nvPr/>
        </p:nvSpPr>
        <p:spPr>
          <a:xfrm>
            <a:off x="3401568" y="74980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"/>
          <p:cNvSpPr/>
          <p:nvPr/>
        </p:nvSpPr>
        <p:spPr>
          <a:xfrm>
            <a:off x="3694176" y="76809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synapse-onboarding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2" name="Google Shape;17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03904" y="104241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"/>
          <p:cNvSpPr/>
          <p:nvPr/>
        </p:nvSpPr>
        <p:spPr>
          <a:xfrm>
            <a:off x="3337560" y="155448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Seamless registration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 data layer serving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UI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"/>
          <p:cNvSpPr/>
          <p:nvPr/>
        </p:nvSpPr>
        <p:spPr>
          <a:xfrm>
            <a:off x="4892040" y="658368"/>
            <a:ext cx="1554480" cy="1965960"/>
          </a:xfrm>
          <a:prstGeom prst="roundRect">
            <a:avLst>
              <a:gd fmla="val 3529" name="adj"/>
            </a:avLst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"/>
          <p:cNvSpPr/>
          <p:nvPr/>
        </p:nvSpPr>
        <p:spPr>
          <a:xfrm>
            <a:off x="5001768" y="749808"/>
            <a:ext cx="256032" cy="256032"/>
          </a:xfrm>
          <a:prstGeom prst="ellipse">
            <a:avLst/>
          </a:prstGeom>
          <a:solidFill>
            <a:srgbClr val="C1121C"/>
          </a:solidFill>
          <a:ln cap="flat" cmpd="sng" w="12700">
            <a:solidFill>
              <a:srgbClr val="C112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"/>
          <p:cNvSpPr/>
          <p:nvPr/>
        </p:nvSpPr>
        <p:spPr>
          <a:xfrm>
            <a:off x="5001768" y="74980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"/>
          <p:cNvSpPr/>
          <p:nvPr/>
        </p:nvSpPr>
        <p:spPr>
          <a:xfrm>
            <a:off x="5294376" y="768096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synapse-tools-ddc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8" name="Google Shape;178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49824" y="104241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"/>
          <p:cNvSpPr/>
          <p:nvPr/>
        </p:nvSpPr>
        <p:spPr>
          <a:xfrm>
            <a:off x="4919472" y="1554480"/>
            <a:ext cx="149961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Exposes DB + API metadata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the data dictionary as APIs or MCP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Tachyon-enriched semantics,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PII flags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"/>
          <p:cNvSpPr/>
          <p:nvPr/>
        </p:nvSpPr>
        <p:spPr>
          <a:xfrm>
            <a:off x="6583675" y="658377"/>
            <a:ext cx="1737300" cy="3867900"/>
          </a:xfrm>
          <a:prstGeom prst="roundRect">
            <a:avLst>
              <a:gd fmla="val 3158" name="adj"/>
            </a:avLst>
          </a:prstGeom>
          <a:solidFill>
            <a:srgbClr val="FFFFFF"/>
          </a:solidFill>
          <a:ln cap="flat" cmpd="sng" w="12700">
            <a:solidFill>
              <a:srgbClr val="D71E2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"/>
          <p:cNvSpPr/>
          <p:nvPr/>
        </p:nvSpPr>
        <p:spPr>
          <a:xfrm>
            <a:off x="6693408" y="749808"/>
            <a:ext cx="256032" cy="256032"/>
          </a:xfrm>
          <a:prstGeom prst="ellipse">
            <a:avLst/>
          </a:prstGeom>
          <a:solidFill>
            <a:srgbClr val="C1121C"/>
          </a:solidFill>
          <a:ln cap="flat" cmpd="sng" w="12700">
            <a:solidFill>
              <a:srgbClr val="C112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"/>
          <p:cNvSpPr/>
          <p:nvPr/>
        </p:nvSpPr>
        <p:spPr>
          <a:xfrm>
            <a:off x="6693408" y="74980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"/>
          <p:cNvSpPr/>
          <p:nvPr/>
        </p:nvSpPr>
        <p:spPr>
          <a:xfrm>
            <a:off x="6986016" y="731520"/>
            <a:ext cx="1234440" cy="18288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AGENT GENERATION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"/>
          <p:cNvSpPr/>
          <p:nvPr/>
        </p:nvSpPr>
        <p:spPr>
          <a:xfrm>
            <a:off x="6986016" y="905256"/>
            <a:ext cx="12344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(Owned by Another POD Team)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5" name="Google Shape;185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23760" y="113385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"/>
          <p:cNvSpPr/>
          <p:nvPr/>
        </p:nvSpPr>
        <p:spPr>
          <a:xfrm>
            <a:off x="6620256" y="1664208"/>
            <a:ext cx="16642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Transforms observed workflow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 discovered tools into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executable agents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"/>
          <p:cNvSpPr/>
          <p:nvPr/>
        </p:nvSpPr>
        <p:spPr>
          <a:xfrm>
            <a:off x="6711696" y="2212848"/>
            <a:ext cx="1481328" cy="219456"/>
          </a:xfrm>
          <a:prstGeom prst="roundRect">
            <a:avLst>
              <a:gd fmla="val 16667" name="adj"/>
            </a:avLst>
          </a:prstGeom>
          <a:solidFill>
            <a:srgbClr val="FBE9EA"/>
          </a:solidFill>
          <a:ln cap="flat" cmpd="sng" w="12700">
            <a:solidFill>
              <a:srgbClr val="FBE9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"/>
          <p:cNvSpPr/>
          <p:nvPr/>
        </p:nvSpPr>
        <p:spPr>
          <a:xfrm>
            <a:off x="6711696" y="2212848"/>
            <a:ext cx="14813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Workflow Orchestration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"/>
          <p:cNvSpPr/>
          <p:nvPr/>
        </p:nvSpPr>
        <p:spPr>
          <a:xfrm>
            <a:off x="6711696" y="2487168"/>
            <a:ext cx="1481328" cy="219456"/>
          </a:xfrm>
          <a:prstGeom prst="roundRect">
            <a:avLst>
              <a:gd fmla="val 16667" name="adj"/>
            </a:avLst>
          </a:prstGeom>
          <a:solidFill>
            <a:srgbClr val="FBE9EA"/>
          </a:solidFill>
          <a:ln cap="flat" cmpd="sng" w="12700">
            <a:solidFill>
              <a:srgbClr val="FBE9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"/>
          <p:cNvSpPr/>
          <p:nvPr/>
        </p:nvSpPr>
        <p:spPr>
          <a:xfrm>
            <a:off x="6711696" y="2487168"/>
            <a:ext cx="14813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Prompt &amp; Policy Injection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"/>
          <p:cNvSpPr/>
          <p:nvPr/>
        </p:nvSpPr>
        <p:spPr>
          <a:xfrm>
            <a:off x="6711696" y="2761488"/>
            <a:ext cx="1481328" cy="219456"/>
          </a:xfrm>
          <a:prstGeom prst="roundRect">
            <a:avLst>
              <a:gd fmla="val 16667" name="adj"/>
            </a:avLst>
          </a:prstGeom>
          <a:solidFill>
            <a:srgbClr val="FBE9EA"/>
          </a:solidFill>
          <a:ln cap="flat" cmpd="sng" w="12700">
            <a:solidFill>
              <a:srgbClr val="FBE9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"/>
          <p:cNvSpPr/>
          <p:nvPr/>
        </p:nvSpPr>
        <p:spPr>
          <a:xfrm>
            <a:off x="6711696" y="2761488"/>
            <a:ext cx="14813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Tool Selection Logic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"/>
          <p:cNvSpPr/>
          <p:nvPr/>
        </p:nvSpPr>
        <p:spPr>
          <a:xfrm>
            <a:off x="6711696" y="3035808"/>
            <a:ext cx="1481328" cy="219456"/>
          </a:xfrm>
          <a:prstGeom prst="roundRect">
            <a:avLst>
              <a:gd fmla="val 16667" name="adj"/>
            </a:avLst>
          </a:prstGeom>
          <a:solidFill>
            <a:srgbClr val="FBE9EA"/>
          </a:solidFill>
          <a:ln cap="flat" cmpd="sng" w="12700">
            <a:solidFill>
              <a:srgbClr val="FBE9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"/>
          <p:cNvSpPr/>
          <p:nvPr/>
        </p:nvSpPr>
        <p:spPr>
          <a:xfrm>
            <a:off x="6711696" y="3035808"/>
            <a:ext cx="14813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Memory &amp; Context Mgmt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"/>
          <p:cNvSpPr/>
          <p:nvPr/>
        </p:nvSpPr>
        <p:spPr>
          <a:xfrm>
            <a:off x="6711696" y="3310128"/>
            <a:ext cx="1481328" cy="219456"/>
          </a:xfrm>
          <a:prstGeom prst="roundRect">
            <a:avLst>
              <a:gd fmla="val 16667" name="adj"/>
            </a:avLst>
          </a:prstGeom>
          <a:solidFill>
            <a:srgbClr val="FBE9EA"/>
          </a:solidFill>
          <a:ln cap="flat" cmpd="sng" w="12700">
            <a:solidFill>
              <a:srgbClr val="FBE9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"/>
          <p:cNvSpPr/>
          <p:nvPr/>
        </p:nvSpPr>
        <p:spPr>
          <a:xfrm>
            <a:off x="6711696" y="3310128"/>
            <a:ext cx="14813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Agent Packaging &amp; Versioning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"/>
          <p:cNvSpPr/>
          <p:nvPr/>
        </p:nvSpPr>
        <p:spPr>
          <a:xfrm>
            <a:off x="8458200" y="658368"/>
            <a:ext cx="1737360" cy="3063240"/>
          </a:xfrm>
          <a:prstGeom prst="roundRect">
            <a:avLst>
              <a:gd fmla="val 3158" name="adj"/>
            </a:avLst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"/>
          <p:cNvSpPr/>
          <p:nvPr/>
        </p:nvSpPr>
        <p:spPr>
          <a:xfrm>
            <a:off x="8567928" y="749808"/>
            <a:ext cx="256032" cy="256032"/>
          </a:xfrm>
          <a:prstGeom prst="ellipse">
            <a:avLst/>
          </a:prstGeom>
          <a:solidFill>
            <a:srgbClr val="C1121C"/>
          </a:solidFill>
          <a:ln cap="flat" cmpd="sng" w="12700">
            <a:solidFill>
              <a:srgbClr val="C112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"/>
          <p:cNvSpPr/>
          <p:nvPr/>
        </p:nvSpPr>
        <p:spPr>
          <a:xfrm>
            <a:off x="8567928" y="74980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"/>
          <p:cNvSpPr/>
          <p:nvPr/>
        </p:nvSpPr>
        <p:spPr>
          <a:xfrm>
            <a:off x="8860536" y="768096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synapse-datagateway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1" name="Google Shape;201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16568" y="1060704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"/>
          <p:cNvSpPr/>
          <p:nvPr/>
        </p:nvSpPr>
        <p:spPr>
          <a:xfrm>
            <a:off x="8494776" y="1572768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Unified DB + API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connectivity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p1"/>
          <p:cNvCxnSpPr/>
          <p:nvPr/>
        </p:nvCxnSpPr>
        <p:spPr>
          <a:xfrm>
            <a:off x="8641080" y="1938528"/>
            <a:ext cx="1371600" cy="0"/>
          </a:xfrm>
          <a:prstGeom prst="straightConnector1">
            <a:avLst/>
          </a:prstGeom>
          <a:noFill/>
          <a:ln cap="flat" cmpd="sng" w="12700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204" name="Google Shape;204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41080" y="2103120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"/>
          <p:cNvSpPr/>
          <p:nvPr/>
        </p:nvSpPr>
        <p:spPr>
          <a:xfrm>
            <a:off x="8851392" y="2084832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Policy gates (ABAC)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6" name="Google Shape;206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41080" y="235000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"/>
          <p:cNvSpPr/>
          <p:nvPr/>
        </p:nvSpPr>
        <p:spPr>
          <a:xfrm>
            <a:off x="8851392" y="2331720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Rate limits &amp; quotas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8" name="Google Shape;208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41080" y="2596896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"/>
          <p:cNvSpPr/>
          <p:nvPr/>
        </p:nvSpPr>
        <p:spPr>
          <a:xfrm>
            <a:off x="8851392" y="2578608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SQL policy &amp; validation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0" name="Google Shape;210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41080" y="2843784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"/>
          <p:cNvSpPr/>
          <p:nvPr/>
        </p:nvSpPr>
        <p:spPr>
          <a:xfrm>
            <a:off x="8851392" y="2825496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Circuit breaker &amp; timeout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2" name="Google Shape;212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41080" y="3090672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"/>
          <p:cNvSpPr/>
          <p:nvPr/>
        </p:nvSpPr>
        <p:spPr>
          <a:xfrm>
            <a:off x="8851392" y="3072384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Result capping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4" name="Google Shape;214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41080" y="3337560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"/>
          <p:cNvSpPr/>
          <p:nvPr/>
        </p:nvSpPr>
        <p:spPr>
          <a:xfrm>
            <a:off x="8851392" y="3319272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Audit lineage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"/>
          <p:cNvSpPr/>
          <p:nvPr/>
        </p:nvSpPr>
        <p:spPr>
          <a:xfrm>
            <a:off x="10332720" y="658368"/>
            <a:ext cx="1554480" cy="2377440"/>
          </a:xfrm>
          <a:prstGeom prst="roundRect">
            <a:avLst>
              <a:gd fmla="val 3529" name="adj"/>
            </a:avLst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"/>
          <p:cNvSpPr/>
          <p:nvPr/>
        </p:nvSpPr>
        <p:spPr>
          <a:xfrm>
            <a:off x="10442448" y="749808"/>
            <a:ext cx="256032" cy="256032"/>
          </a:xfrm>
          <a:prstGeom prst="ellipse">
            <a:avLst/>
          </a:prstGeom>
          <a:solidFill>
            <a:srgbClr val="C1121C"/>
          </a:solidFill>
          <a:ln cap="flat" cmpd="sng" w="12700">
            <a:solidFill>
              <a:srgbClr val="C112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"/>
          <p:cNvSpPr/>
          <p:nvPr/>
        </p:nvSpPr>
        <p:spPr>
          <a:xfrm>
            <a:off x="10442448" y="74980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"/>
          <p:cNvSpPr/>
          <p:nvPr/>
        </p:nvSpPr>
        <p:spPr>
          <a:xfrm>
            <a:off x="10735056" y="731520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SYSTEMS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0" name="Google Shape;220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890523" y="1079007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"/>
          <p:cNvSpPr/>
          <p:nvPr/>
        </p:nvSpPr>
        <p:spPr>
          <a:xfrm>
            <a:off x="10369296" y="1572784"/>
            <a:ext cx="1481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SOR APIs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(sync + async)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" name="Google Shape;222;p1"/>
          <p:cNvCxnSpPr/>
          <p:nvPr/>
        </p:nvCxnSpPr>
        <p:spPr>
          <a:xfrm>
            <a:off x="10515638" y="1950319"/>
            <a:ext cx="1188600" cy="0"/>
          </a:xfrm>
          <a:prstGeom prst="straightConnector1">
            <a:avLst/>
          </a:prstGeom>
          <a:noFill/>
          <a:ln cap="flat" cmpd="sng" w="12700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" name="Google Shape;223;p1"/>
          <p:cNvSpPr/>
          <p:nvPr/>
        </p:nvSpPr>
        <p:spPr>
          <a:xfrm>
            <a:off x="10369300" y="2194550"/>
            <a:ext cx="711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Databases behind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MSP</a:t>
            </a:r>
            <a:endParaRPr b="0" i="0" sz="75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ecar</a:t>
            </a:r>
            <a:endParaRPr sz="75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1LLG</a:t>
            </a:r>
            <a:endParaRPr sz="75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50"/>
              <a:buFont typeface="Calibri"/>
              <a:buNone/>
            </a:pPr>
            <a:r>
              <a:t/>
            </a:r>
            <a:endParaRPr sz="75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50"/>
              <a:buFont typeface="Calibri"/>
              <a:buNone/>
            </a:pPr>
            <a:r>
              <a:t/>
            </a:r>
            <a:endParaRPr sz="75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"/>
          <p:cNvSpPr/>
          <p:nvPr/>
        </p:nvSpPr>
        <p:spPr>
          <a:xfrm>
            <a:off x="1691640" y="2514600"/>
            <a:ext cx="1463040" cy="1417320"/>
          </a:xfrm>
          <a:prstGeom prst="roundRect">
            <a:avLst>
              <a:gd fmla="val 3871" name="adj"/>
            </a:avLst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"/>
          <p:cNvSpPr/>
          <p:nvPr/>
        </p:nvSpPr>
        <p:spPr>
          <a:xfrm>
            <a:off x="1801368" y="2606040"/>
            <a:ext cx="256032" cy="256032"/>
          </a:xfrm>
          <a:prstGeom prst="ellipse">
            <a:avLst/>
          </a:prstGeom>
          <a:solidFill>
            <a:srgbClr val="C1121C"/>
          </a:solidFill>
          <a:ln cap="flat" cmpd="sng" w="12700">
            <a:solidFill>
              <a:srgbClr val="C112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"/>
          <p:cNvSpPr/>
          <p:nvPr/>
        </p:nvSpPr>
        <p:spPr>
          <a:xfrm>
            <a:off x="1801368" y="260604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"/>
          <p:cNvSpPr/>
          <p:nvPr/>
        </p:nvSpPr>
        <p:spPr>
          <a:xfrm>
            <a:off x="2093976" y="2624328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MongoDB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8" name="Google Shape;228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231136" y="288950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"/>
          <p:cNvSpPr/>
          <p:nvPr/>
        </p:nvSpPr>
        <p:spPr>
          <a:xfrm>
            <a:off x="1719072" y="3310128"/>
            <a:ext cx="14081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Non-secret registration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metadata, versions,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lifecycle state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"/>
          <p:cNvSpPr/>
          <p:nvPr/>
        </p:nvSpPr>
        <p:spPr>
          <a:xfrm>
            <a:off x="3291840" y="2514600"/>
            <a:ext cx="1463040" cy="1417320"/>
          </a:xfrm>
          <a:prstGeom prst="roundRect">
            <a:avLst>
              <a:gd fmla="val 3871" name="adj"/>
            </a:avLst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"/>
          <p:cNvSpPr/>
          <p:nvPr/>
        </p:nvSpPr>
        <p:spPr>
          <a:xfrm>
            <a:off x="3401568" y="2606040"/>
            <a:ext cx="256032" cy="256032"/>
          </a:xfrm>
          <a:prstGeom prst="ellipse">
            <a:avLst/>
          </a:prstGeom>
          <a:solidFill>
            <a:srgbClr val="C1121C"/>
          </a:solidFill>
          <a:ln cap="flat" cmpd="sng" w="12700">
            <a:solidFill>
              <a:srgbClr val="C112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"/>
          <p:cNvSpPr/>
          <p:nvPr/>
        </p:nvSpPr>
        <p:spPr>
          <a:xfrm>
            <a:off x="3401568" y="260604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"/>
          <p:cNvSpPr/>
          <p:nvPr/>
        </p:nvSpPr>
        <p:spPr>
          <a:xfrm>
            <a:off x="3694176" y="262432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HashiCorp Vault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4" name="Google Shape;234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831336" y="288950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"/>
          <p:cNvSpPr/>
          <p:nvPr/>
        </p:nvSpPr>
        <p:spPr>
          <a:xfrm>
            <a:off x="3319272" y="3310128"/>
            <a:ext cx="14081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Passwords, tokens,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API keys, connection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secrets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"/>
          <p:cNvSpPr/>
          <p:nvPr/>
        </p:nvSpPr>
        <p:spPr>
          <a:xfrm>
            <a:off x="1719072" y="4041648"/>
            <a:ext cx="1417320" cy="21945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71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"/>
          <p:cNvSpPr/>
          <p:nvPr/>
        </p:nvSpPr>
        <p:spPr>
          <a:xfrm>
            <a:off x="1719072" y="4041648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METADATA STORE (NON-SECRET)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"/>
          <p:cNvSpPr/>
          <p:nvPr/>
        </p:nvSpPr>
        <p:spPr>
          <a:xfrm>
            <a:off x="3456432" y="4041648"/>
            <a:ext cx="1143000" cy="21945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71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"/>
          <p:cNvSpPr/>
          <p:nvPr/>
        </p:nvSpPr>
        <p:spPr>
          <a:xfrm>
            <a:off x="3456432" y="4041648"/>
            <a:ext cx="1143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SECRET STORE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" name="Google Shape;240;p1"/>
          <p:cNvCxnSpPr/>
          <p:nvPr/>
        </p:nvCxnSpPr>
        <p:spPr>
          <a:xfrm>
            <a:off x="2423160" y="3931920"/>
            <a:ext cx="0" cy="109728"/>
          </a:xfrm>
          <a:prstGeom prst="straightConnector1">
            <a:avLst/>
          </a:prstGeom>
          <a:noFill/>
          <a:ln cap="flat" cmpd="sng" w="12700">
            <a:solidFill>
              <a:srgbClr val="9A9A9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" name="Google Shape;241;p1"/>
          <p:cNvCxnSpPr/>
          <p:nvPr/>
        </p:nvCxnSpPr>
        <p:spPr>
          <a:xfrm>
            <a:off x="4023360" y="3931920"/>
            <a:ext cx="0" cy="109728"/>
          </a:xfrm>
          <a:prstGeom prst="straightConnector1">
            <a:avLst/>
          </a:prstGeom>
          <a:noFill/>
          <a:ln cap="flat" cmpd="sng" w="12700">
            <a:solidFill>
              <a:srgbClr val="9A9A9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" name="Google Shape;242;p1"/>
          <p:cNvCxnSpPr/>
          <p:nvPr/>
        </p:nvCxnSpPr>
        <p:spPr>
          <a:xfrm>
            <a:off x="3154680" y="4151376"/>
            <a:ext cx="283464" cy="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3" name="Google Shape;243;p1"/>
          <p:cNvSpPr/>
          <p:nvPr/>
        </p:nvSpPr>
        <p:spPr>
          <a:xfrm>
            <a:off x="4892040" y="2743200"/>
            <a:ext cx="1554480" cy="1783080"/>
          </a:xfrm>
          <a:prstGeom prst="roundRect">
            <a:avLst>
              <a:gd fmla="val 3529" name="adj"/>
            </a:avLst>
          </a:prstGeom>
          <a:solidFill>
            <a:srgbClr val="FFFFFF"/>
          </a:solidFill>
          <a:ln cap="flat" cmpd="sng" w="12700">
            <a:solidFill>
              <a:srgbClr val="D71E2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"/>
          <p:cNvSpPr/>
          <p:nvPr/>
        </p:nvSpPr>
        <p:spPr>
          <a:xfrm>
            <a:off x="4956048" y="2816352"/>
            <a:ext cx="14264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ENRICHMENT ENGINE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5" name="Google Shape;245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992624" y="305409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"/>
          <p:cNvSpPr/>
          <p:nvPr/>
        </p:nvSpPr>
        <p:spPr>
          <a:xfrm>
            <a:off x="5303520" y="3035808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Tachyon Model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"/>
          <p:cNvSpPr/>
          <p:nvPr/>
        </p:nvSpPr>
        <p:spPr>
          <a:xfrm>
            <a:off x="5303520" y="3191256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Infers field meanings,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domains, relationships,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PII classification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8" name="Google Shape;248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992624" y="367588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"/>
          <p:cNvSpPr/>
          <p:nvPr/>
        </p:nvSpPr>
        <p:spPr>
          <a:xfrm>
            <a:off x="5303520" y="3657600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Sampling Engine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"/>
          <p:cNvSpPr/>
          <p:nvPr/>
        </p:nvSpPr>
        <p:spPr>
          <a:xfrm>
            <a:off x="5303520" y="3813048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Samples 20 rows/table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build semantic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understanding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" name="Google Shape;251;p1"/>
          <p:cNvCxnSpPr/>
          <p:nvPr/>
        </p:nvCxnSpPr>
        <p:spPr>
          <a:xfrm rot="10800000">
            <a:off x="5669280" y="2624328"/>
            <a:ext cx="0" cy="118872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preencoded.png" id="252" name="Google Shape;25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93408" y="405993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"/>
          <p:cNvSpPr/>
          <p:nvPr/>
        </p:nvSpPr>
        <p:spPr>
          <a:xfrm>
            <a:off x="7022592" y="3931920"/>
            <a:ext cx="120700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POD RESPONSIBILITY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"/>
          <p:cNvSpPr/>
          <p:nvPr/>
        </p:nvSpPr>
        <p:spPr>
          <a:xfrm>
            <a:off x="7022592" y="4087368"/>
            <a:ext cx="1207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layer is handled by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another POD team.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" name="Google Shape;255;p1"/>
          <p:cNvCxnSpPr/>
          <p:nvPr/>
        </p:nvCxnSpPr>
        <p:spPr>
          <a:xfrm>
            <a:off x="1508760" y="1298448"/>
            <a:ext cx="182880" cy="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6" name="Google Shape;256;p1"/>
          <p:cNvCxnSpPr/>
          <p:nvPr/>
        </p:nvCxnSpPr>
        <p:spPr>
          <a:xfrm>
            <a:off x="3154680" y="1298448"/>
            <a:ext cx="137160" cy="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7" name="Google Shape;257;p1"/>
          <p:cNvCxnSpPr/>
          <p:nvPr/>
        </p:nvCxnSpPr>
        <p:spPr>
          <a:xfrm>
            <a:off x="4754880" y="1298448"/>
            <a:ext cx="137160" cy="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8" name="Google Shape;258;p1"/>
          <p:cNvCxnSpPr/>
          <p:nvPr/>
        </p:nvCxnSpPr>
        <p:spPr>
          <a:xfrm>
            <a:off x="6446520" y="1298448"/>
            <a:ext cx="137160" cy="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9" name="Google Shape;259;p1"/>
          <p:cNvCxnSpPr/>
          <p:nvPr/>
        </p:nvCxnSpPr>
        <p:spPr>
          <a:xfrm>
            <a:off x="8321040" y="1298448"/>
            <a:ext cx="137160" cy="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0" name="Google Shape;260;p1"/>
          <p:cNvCxnSpPr/>
          <p:nvPr/>
        </p:nvCxnSpPr>
        <p:spPr>
          <a:xfrm>
            <a:off x="10195560" y="1700784"/>
            <a:ext cx="137160" cy="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1" name="Google Shape;261;p1"/>
          <p:cNvCxnSpPr/>
          <p:nvPr/>
        </p:nvCxnSpPr>
        <p:spPr>
          <a:xfrm>
            <a:off x="4023360" y="2258568"/>
            <a:ext cx="0" cy="118872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2" name="Google Shape;262;p1"/>
          <p:cNvCxnSpPr/>
          <p:nvPr/>
        </p:nvCxnSpPr>
        <p:spPr>
          <a:xfrm>
            <a:off x="2423160" y="2377440"/>
            <a:ext cx="1600200" cy="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3" name="Google Shape;263;p1"/>
          <p:cNvCxnSpPr/>
          <p:nvPr/>
        </p:nvCxnSpPr>
        <p:spPr>
          <a:xfrm>
            <a:off x="2423160" y="2377440"/>
            <a:ext cx="0" cy="13716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4" name="Google Shape;264;p1"/>
          <p:cNvCxnSpPr/>
          <p:nvPr/>
        </p:nvCxnSpPr>
        <p:spPr>
          <a:xfrm>
            <a:off x="4023360" y="2377440"/>
            <a:ext cx="0" cy="137160"/>
          </a:xfrm>
          <a:prstGeom prst="straightConnector1">
            <a:avLst/>
          </a:prstGeom>
          <a:noFill/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5" name="Google Shape;265;p1"/>
          <p:cNvSpPr/>
          <p:nvPr/>
        </p:nvSpPr>
        <p:spPr>
          <a:xfrm>
            <a:off x="274320" y="4709160"/>
            <a:ext cx="1161288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"/>
          <p:cNvSpPr/>
          <p:nvPr/>
        </p:nvSpPr>
        <p:spPr>
          <a:xfrm>
            <a:off x="274320" y="4709160"/>
            <a:ext cx="868680" cy="1828800"/>
          </a:xfrm>
          <a:prstGeom prst="rect">
            <a:avLst/>
          </a:prstGeom>
          <a:solidFill>
            <a:srgbClr val="C1121C"/>
          </a:solidFill>
          <a:ln cap="flat" cmpd="sng" w="12700">
            <a:solidFill>
              <a:srgbClr val="C112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7" name="Google Shape;267;p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03504" y="509320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"/>
          <p:cNvSpPr/>
          <p:nvPr/>
        </p:nvSpPr>
        <p:spPr>
          <a:xfrm>
            <a:off x="274320" y="5422392"/>
            <a:ext cx="868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DETAIL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"/>
          <p:cNvSpPr/>
          <p:nvPr/>
        </p:nvSpPr>
        <p:spPr>
          <a:xfrm>
            <a:off x="1621028" y="4818888"/>
            <a:ext cx="237744" cy="237744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C112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"/>
          <p:cNvSpPr/>
          <p:nvPr/>
        </p:nvSpPr>
        <p:spPr>
          <a:xfrm>
            <a:off x="1621028" y="481888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"/>
          <p:cNvSpPr/>
          <p:nvPr/>
        </p:nvSpPr>
        <p:spPr>
          <a:xfrm>
            <a:off x="1179576" y="5093208"/>
            <a:ext cx="11206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Observe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"/>
          <p:cNvSpPr/>
          <p:nvPr/>
        </p:nvSpPr>
        <p:spPr>
          <a:xfrm>
            <a:off x="1234440" y="5303520"/>
            <a:ext cx="1010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O2I emits workflow + skills from clickstream and SOP – every step references the UI, not a backend.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" name="Google Shape;273;p1"/>
          <p:cNvCxnSpPr/>
          <p:nvPr/>
        </p:nvCxnSpPr>
        <p:spPr>
          <a:xfrm>
            <a:off x="2336800" y="4818888"/>
            <a:ext cx="0" cy="1609344"/>
          </a:xfrm>
          <a:prstGeom prst="straightConnector1">
            <a:avLst/>
          </a:prstGeom>
          <a:noFill/>
          <a:ln cap="flat" cmpd="sng" w="12700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p1"/>
          <p:cNvSpPr/>
          <p:nvPr/>
        </p:nvSpPr>
        <p:spPr>
          <a:xfrm>
            <a:off x="2814828" y="4818888"/>
            <a:ext cx="237744" cy="237744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C112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"/>
          <p:cNvSpPr/>
          <p:nvPr/>
        </p:nvSpPr>
        <p:spPr>
          <a:xfrm>
            <a:off x="2814828" y="481888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"/>
          <p:cNvSpPr/>
          <p:nvPr/>
        </p:nvSpPr>
        <p:spPr>
          <a:xfrm>
            <a:off x="2373376" y="5093208"/>
            <a:ext cx="11206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Register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"/>
          <p:cNvSpPr/>
          <p:nvPr/>
        </p:nvSpPr>
        <p:spPr>
          <a:xfrm>
            <a:off x="2428240" y="5303520"/>
            <a:ext cx="1010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Operator onboards a DB, sync API, async API, or collection via synapse-ui under project-scoped ABAC.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" name="Google Shape;278;p1"/>
          <p:cNvCxnSpPr/>
          <p:nvPr/>
        </p:nvCxnSpPr>
        <p:spPr>
          <a:xfrm>
            <a:off x="3530600" y="4818888"/>
            <a:ext cx="0" cy="1609344"/>
          </a:xfrm>
          <a:prstGeom prst="straightConnector1">
            <a:avLst/>
          </a:prstGeom>
          <a:noFill/>
          <a:ln cap="flat" cmpd="sng" w="12700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" name="Google Shape;279;p1"/>
          <p:cNvSpPr/>
          <p:nvPr/>
        </p:nvSpPr>
        <p:spPr>
          <a:xfrm>
            <a:off x="4008628" y="4818888"/>
            <a:ext cx="237744" cy="237744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C112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"/>
          <p:cNvSpPr/>
          <p:nvPr/>
        </p:nvSpPr>
        <p:spPr>
          <a:xfrm>
            <a:off x="4008628" y="481888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"/>
          <p:cNvSpPr/>
          <p:nvPr/>
        </p:nvSpPr>
        <p:spPr>
          <a:xfrm>
            <a:off x="3567176" y="5093208"/>
            <a:ext cx="11206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"/>
          <p:cNvSpPr/>
          <p:nvPr/>
        </p:nvSpPr>
        <p:spPr>
          <a:xfrm>
            <a:off x="3622040" y="5303520"/>
            <a:ext cx="1010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synapse-onboarding runs JWT/ADMIN checks; validates schema, uniqueness, tags, and lifecycle rules.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" name="Google Shape;283;p1"/>
          <p:cNvCxnSpPr/>
          <p:nvPr/>
        </p:nvCxnSpPr>
        <p:spPr>
          <a:xfrm>
            <a:off x="4724400" y="4818888"/>
            <a:ext cx="0" cy="1609344"/>
          </a:xfrm>
          <a:prstGeom prst="straightConnector1">
            <a:avLst/>
          </a:prstGeom>
          <a:noFill/>
          <a:ln cap="flat" cmpd="sng" w="12700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1"/>
          <p:cNvSpPr/>
          <p:nvPr/>
        </p:nvSpPr>
        <p:spPr>
          <a:xfrm>
            <a:off x="5202428" y="4818888"/>
            <a:ext cx="237744" cy="237744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C112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"/>
          <p:cNvSpPr/>
          <p:nvPr/>
        </p:nvSpPr>
        <p:spPr>
          <a:xfrm>
            <a:off x="5202428" y="481888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"/>
          <p:cNvSpPr/>
          <p:nvPr/>
        </p:nvSpPr>
        <p:spPr>
          <a:xfrm>
            <a:off x="4760976" y="5093208"/>
            <a:ext cx="11206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Persist metadata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"/>
          <p:cNvSpPr/>
          <p:nvPr/>
        </p:nvSpPr>
        <p:spPr>
          <a:xfrm>
            <a:off x="4815840" y="5303520"/>
            <a:ext cx="1010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Non-secret registration and versions land in MongoDB – searchable, never credential-bearing.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8" name="Google Shape;288;p1"/>
          <p:cNvCxnSpPr/>
          <p:nvPr/>
        </p:nvCxnSpPr>
        <p:spPr>
          <a:xfrm>
            <a:off x="5918200" y="4818888"/>
            <a:ext cx="0" cy="1609344"/>
          </a:xfrm>
          <a:prstGeom prst="straightConnector1">
            <a:avLst/>
          </a:prstGeom>
          <a:noFill/>
          <a:ln cap="flat" cmpd="sng" w="12700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p1"/>
          <p:cNvSpPr/>
          <p:nvPr/>
        </p:nvSpPr>
        <p:spPr>
          <a:xfrm>
            <a:off x="6396228" y="4818888"/>
            <a:ext cx="237744" cy="237744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C112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"/>
          <p:cNvSpPr/>
          <p:nvPr/>
        </p:nvSpPr>
        <p:spPr>
          <a:xfrm>
            <a:off x="6396228" y="481888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"/>
          <p:cNvSpPr/>
          <p:nvPr/>
        </p:nvSpPr>
        <p:spPr>
          <a:xfrm>
            <a:off x="5954776" y="5093208"/>
            <a:ext cx="11206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Persist secrets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"/>
          <p:cNvSpPr/>
          <p:nvPr/>
        </p:nvSpPr>
        <p:spPr>
          <a:xfrm>
            <a:off x="6009640" y="5303520"/>
            <a:ext cx="1010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Vault takes passwords, tokens, API keys, connection secrets. Separate write path, single resolver.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3" name="Google Shape;293;p1"/>
          <p:cNvCxnSpPr/>
          <p:nvPr/>
        </p:nvCxnSpPr>
        <p:spPr>
          <a:xfrm>
            <a:off x="7112000" y="4818888"/>
            <a:ext cx="0" cy="1609344"/>
          </a:xfrm>
          <a:prstGeom prst="straightConnector1">
            <a:avLst/>
          </a:prstGeom>
          <a:noFill/>
          <a:ln cap="flat" cmpd="sng" w="12700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" name="Google Shape;294;p1"/>
          <p:cNvSpPr/>
          <p:nvPr/>
        </p:nvSpPr>
        <p:spPr>
          <a:xfrm>
            <a:off x="7590028" y="4818888"/>
            <a:ext cx="237744" cy="237744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C112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"/>
          <p:cNvSpPr/>
          <p:nvPr/>
        </p:nvSpPr>
        <p:spPr>
          <a:xfrm>
            <a:off x="7590028" y="481888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"/>
          <p:cNvSpPr/>
          <p:nvPr/>
        </p:nvSpPr>
        <p:spPr>
          <a:xfrm>
            <a:off x="7148576" y="5093208"/>
            <a:ext cx="11206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Enrich &amp; discover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"/>
          <p:cNvSpPr/>
          <p:nvPr/>
        </p:nvSpPr>
        <p:spPr>
          <a:xfrm>
            <a:off x="7203440" y="5303520"/>
            <a:ext cx="1010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Catalogue samples 20 rows/table; Tachyon Model infers field meanings, domains, relationships, PII flags.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" name="Google Shape;298;p1"/>
          <p:cNvCxnSpPr/>
          <p:nvPr/>
        </p:nvCxnSpPr>
        <p:spPr>
          <a:xfrm>
            <a:off x="8305800" y="4818888"/>
            <a:ext cx="0" cy="1609344"/>
          </a:xfrm>
          <a:prstGeom prst="straightConnector1">
            <a:avLst/>
          </a:prstGeom>
          <a:noFill/>
          <a:ln cap="flat" cmpd="sng" w="12700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" name="Google Shape;299;p1"/>
          <p:cNvSpPr/>
          <p:nvPr/>
        </p:nvSpPr>
        <p:spPr>
          <a:xfrm>
            <a:off x="8783828" y="4818888"/>
            <a:ext cx="237744" cy="237744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C112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"/>
          <p:cNvSpPr/>
          <p:nvPr/>
        </p:nvSpPr>
        <p:spPr>
          <a:xfrm>
            <a:off x="8783828" y="481888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"/>
          <p:cNvSpPr/>
          <p:nvPr/>
        </p:nvSpPr>
        <p:spPr>
          <a:xfrm>
            <a:off x="8342376" y="5093208"/>
            <a:ext cx="11206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Generate agent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"/>
          <p:cNvSpPr/>
          <p:nvPr/>
        </p:nvSpPr>
        <p:spPr>
          <a:xfrm>
            <a:off x="8397240" y="5303520"/>
            <a:ext cx="1010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Another POD team builds the agent using observed workflow and discovered tools with orchestration, prompts &amp; policies.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3" name="Google Shape;303;p1"/>
          <p:cNvCxnSpPr/>
          <p:nvPr/>
        </p:nvCxnSpPr>
        <p:spPr>
          <a:xfrm>
            <a:off x="9499600" y="4818888"/>
            <a:ext cx="0" cy="1609344"/>
          </a:xfrm>
          <a:prstGeom prst="straightConnector1">
            <a:avLst/>
          </a:prstGeom>
          <a:noFill/>
          <a:ln cap="flat" cmpd="sng" w="12700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4" name="Google Shape;304;p1"/>
          <p:cNvSpPr/>
          <p:nvPr/>
        </p:nvSpPr>
        <p:spPr>
          <a:xfrm>
            <a:off x="9977628" y="4818888"/>
            <a:ext cx="237744" cy="237744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C112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"/>
          <p:cNvSpPr/>
          <p:nvPr/>
        </p:nvSpPr>
        <p:spPr>
          <a:xfrm>
            <a:off x="9977628" y="481888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"/>
          <p:cNvSpPr/>
          <p:nvPr/>
        </p:nvSpPr>
        <p:spPr>
          <a:xfrm>
            <a:off x="9536176" y="5093208"/>
            <a:ext cx="11206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Execute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"/>
          <p:cNvSpPr/>
          <p:nvPr/>
        </p:nvSpPr>
        <p:spPr>
          <a:xfrm>
            <a:off x="9591040" y="5303520"/>
            <a:ext cx="1010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datagateway validates query_id/api_id; applies rate-limit, quota, SQL policy, circuit breaker, timeout, capping.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8" name="Google Shape;308;p1"/>
          <p:cNvCxnSpPr/>
          <p:nvPr/>
        </p:nvCxnSpPr>
        <p:spPr>
          <a:xfrm>
            <a:off x="10693400" y="4818888"/>
            <a:ext cx="0" cy="1609344"/>
          </a:xfrm>
          <a:prstGeom prst="straightConnector1">
            <a:avLst/>
          </a:prstGeom>
          <a:noFill/>
          <a:ln cap="flat" cmpd="sng" w="12700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" name="Google Shape;309;p1"/>
          <p:cNvSpPr/>
          <p:nvPr/>
        </p:nvSpPr>
        <p:spPr>
          <a:xfrm>
            <a:off x="11171428" y="4818888"/>
            <a:ext cx="237744" cy="237744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C112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"/>
          <p:cNvSpPr/>
          <p:nvPr/>
        </p:nvSpPr>
        <p:spPr>
          <a:xfrm>
            <a:off x="11171428" y="481888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"/>
          <p:cNvSpPr/>
          <p:nvPr/>
        </p:nvSpPr>
        <p:spPr>
          <a:xfrm>
            <a:off x="10729976" y="5093208"/>
            <a:ext cx="11206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121C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1121C"/>
                </a:solidFill>
                <a:latin typeface="Calibri"/>
                <a:ea typeface="Calibri"/>
                <a:cs typeface="Calibri"/>
                <a:sym typeface="Calibri"/>
              </a:rPr>
              <a:t>Return &amp; audit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"/>
          <p:cNvSpPr/>
          <p:nvPr/>
        </p:nvSpPr>
        <p:spPr>
          <a:xfrm>
            <a:off x="10784840" y="5303520"/>
            <a:ext cx="1010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Sync returns inline; async jobs are polled, retrieved, or cancelled. Every call carries audit lineage.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"/>
          <p:cNvSpPr txBox="1"/>
          <p:nvPr/>
        </p:nvSpPr>
        <p:spPr>
          <a:xfrm>
            <a:off x="12489050" y="5114450"/>
            <a:ext cx="743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4" name="Google Shape;314;p1"/>
          <p:cNvCxnSpPr/>
          <p:nvPr/>
        </p:nvCxnSpPr>
        <p:spPr>
          <a:xfrm>
            <a:off x="10460725" y="2593494"/>
            <a:ext cx="1188600" cy="0"/>
          </a:xfrm>
          <a:prstGeom prst="straightConnector1">
            <a:avLst/>
          </a:prstGeom>
          <a:noFill/>
          <a:ln cap="flat" cmpd="sng" w="12700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p1"/>
          <p:cNvSpPr/>
          <p:nvPr/>
        </p:nvSpPr>
        <p:spPr>
          <a:xfrm>
            <a:off x="10369296" y="2720409"/>
            <a:ext cx="1481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Indigo, QCR, ROBI, QTT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2026-07-16T07:54:54Z</dcterms:created>
  <dc:creator>PptxGenJS</dc:creator>
</cp:coreProperties>
</file>